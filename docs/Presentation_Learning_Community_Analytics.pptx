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LDA (20 topics)</c:v>
                </c:pt>
              </c:strCache>
            </c:strRef>
          </c:tx>
          <c:spPr>
            <a:solidFill>
              <a:srgbClr val="9AA5B8"/>
            </a:solidFill>
            <a:effectLst/>
          </c:spPr>
          <c:invertIfNegative val="0"/>
          <c:dLbls>
            <c:numFmt formatCode="0.00" sourceLinked="0"/>
            <c:txPr>
              <a:bodyPr/>
              <a:lstStyle/>
              <a:p>
                <a:pPr>
                  <a:defRPr b="0" i="0" strike="noStrike" sz="12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NPMI coherence</c:v>
                  </c:pt>
                  <c:pt idx="1">
                    <c:v>Topic diversity</c:v>
                  </c:pt>
                  <c:pt idx="2">
                    <c:v>Match with course tags (NMI)</c:v>
                  </c:pt>
                </c:lvl>
              </c:multiLvlStrCache>
            </c:multiLvlStrRef>
          </c:cat>
          <c:val>
            <c:numRef>
              <c:f>Sheet1!$B$2:$B$4</c:f>
              <c:numCache>
                <c:formatCode>General</c:formatCode>
                <c:ptCount val="3"/>
                <c:pt idx="0">
                  <c:v>0.24</c:v>
                </c:pt>
                <c:pt idx="1">
                  <c:v>0.73</c:v>
                </c:pt>
                <c:pt idx="2">
                  <c:v>0.38</c:v>
                </c:pt>
              </c:numCache>
            </c:numRef>
          </c:val>
        </c:ser>
        <c:ser>
          <c:idx val="1"/>
          <c:order val="1"/>
          <c:tx>
            <c:strRef>
              <c:f>Sheet1!$C$1</c:f>
              <c:strCache>
                <c:ptCount val="1"/>
                <c:pt idx="0">
                  <c:v>BERTopic (19 topics)</c:v>
                </c:pt>
              </c:strCache>
            </c:strRef>
          </c:tx>
          <c:spPr>
            <a:solidFill>
              <a:srgbClr val="0F7C80"/>
            </a:solidFill>
            <a:effectLst/>
          </c:spPr>
          <c:invertIfNegative val="0"/>
          <c:dLbls>
            <c:numFmt formatCode="0.00" sourceLinked="0"/>
            <c:txPr>
              <a:bodyPr/>
              <a:lstStyle/>
              <a:p>
                <a:pPr>
                  <a:defRPr b="0" i="0" strike="noStrike" sz="12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NPMI coherence</c:v>
                  </c:pt>
                  <c:pt idx="1">
                    <c:v>Topic diversity</c:v>
                  </c:pt>
                  <c:pt idx="2">
                    <c:v>Match with course tags (NMI)</c:v>
                  </c:pt>
                </c:lvl>
              </c:multiLvlStrCache>
            </c:multiLvlStrRef>
          </c:cat>
          <c:val>
            <c:numRef>
              <c:f>Sheet1!$C$2:$C$4</c:f>
              <c:numCache>
                <c:formatCode>General</c:formatCode>
                <c:ptCount val="3"/>
                <c:pt idx="0">
                  <c:v>0.31</c:v>
                </c:pt>
                <c:pt idx="1">
                  <c:v>0.87</c:v>
                </c:pt>
                <c:pt idx="2">
                  <c:v>0.56</c:v>
                </c:pt>
              </c:numCache>
            </c:numRef>
          </c:val>
        </c:ser>
        <c:dLbls>
          <c:numFmt formatCode="0.00" sourceLinked="0"/>
          <c:txPr>
            <a:bodyPr/>
            <a:lstStyle/>
            <a:p>
              <a:pPr>
                <a:defRPr b="0" i="0" strike="noStrike" sz="1200" u="none">
                  <a:solidFill>
                    <a:srgbClr val="1F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430"/>
                </a:solidFill>
                <a:latin typeface="Arial"/>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Hit@1</c:v>
                </c:pt>
              </c:strCache>
            </c:strRef>
          </c:tx>
          <c:spPr>
            <a:solidFill>
              <a:srgbClr val="C9D3E0"/>
            </a:solidFill>
            <a:effectLst/>
          </c:spPr>
          <c:invertIfNegative val="0"/>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Sheet1!$A$2:$A$6</c:f>
              <c:multiLvlStrCache>
                <c:ptCount val="5"/>
                <c:lvl>
                  <c:pt idx="0">
                    <c:v>Content
(tfidf)</c:v>
                  </c:pt>
                  <c:pt idx="1">
                    <c:v>Hybrid
(tfidf)</c:v>
                  </c:pt>
                  <c:pt idx="2">
                    <c:v>Popularity
(most answers)</c:v>
                  </c:pt>
                  <c:pt idx="3">
                    <c:v>Content
(embedding)</c:v>
                  </c:pt>
                  <c:pt idx="4">
                    <c:v>Hybrid
(embedding)</c:v>
                  </c:pt>
                </c:lvl>
              </c:multiLvlStrCache>
            </c:multiLvlStrRef>
          </c:cat>
          <c:val>
            <c:numRef>
              <c:f>Sheet1!$B$2:$B$6</c:f>
              <c:numCache>
                <c:formatCode>General</c:formatCode>
                <c:ptCount val="5"/>
                <c:pt idx="0">
                  <c:v>52</c:v>
                </c:pt>
                <c:pt idx="1">
                  <c:v>53</c:v>
                </c:pt>
                <c:pt idx="2">
                  <c:v>47</c:v>
                </c:pt>
                <c:pt idx="3">
                  <c:v>53</c:v>
                </c:pt>
                <c:pt idx="4">
                  <c:v>54</c:v>
                </c:pt>
              </c:numCache>
            </c:numRef>
          </c:val>
        </c:ser>
        <c:ser>
          <c:idx val="1"/>
          <c:order val="1"/>
          <c:tx>
            <c:strRef>
              <c:f>Sheet1!$C$1</c:f>
              <c:strCache>
                <c:ptCount val="1"/>
                <c:pt idx="0">
                  <c:v>Hit@5</c:v>
                </c:pt>
              </c:strCache>
            </c:strRef>
          </c:tx>
          <c:spPr>
            <a:solidFill>
              <a:srgbClr val="7FB8BA"/>
            </a:solidFill>
            <a:effectLst/>
          </c:spPr>
          <c:invertIfNegative val="0"/>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Sheet1!$A$2:$A$6</c:f>
              <c:multiLvlStrCache>
                <c:ptCount val="5"/>
                <c:lvl>
                  <c:pt idx="0">
                    <c:v>Content
(tfidf)</c:v>
                  </c:pt>
                  <c:pt idx="1">
                    <c:v>Hybrid
(tfidf)</c:v>
                  </c:pt>
                  <c:pt idx="2">
                    <c:v>Popularity
(most answers)</c:v>
                  </c:pt>
                  <c:pt idx="3">
                    <c:v>Content
(embedding)</c:v>
                  </c:pt>
                  <c:pt idx="4">
                    <c:v>Hybrid
(embedding)</c:v>
                  </c:pt>
                </c:lvl>
              </c:multiLvlStrCache>
            </c:multiLvlStrRef>
          </c:cat>
          <c:val>
            <c:numRef>
              <c:f>Sheet1!$C$2:$C$6</c:f>
              <c:numCache>
                <c:formatCode>General</c:formatCode>
                <c:ptCount val="5"/>
                <c:pt idx="0">
                  <c:v>69</c:v>
                </c:pt>
                <c:pt idx="1">
                  <c:v>72</c:v>
                </c:pt>
                <c:pt idx="2">
                  <c:v>70</c:v>
                </c:pt>
                <c:pt idx="3">
                  <c:v>71</c:v>
                </c:pt>
                <c:pt idx="4">
                  <c:v>72</c:v>
                </c:pt>
              </c:numCache>
            </c:numRef>
          </c:val>
        </c:ser>
        <c:ser>
          <c:idx val="2"/>
          <c:order val="2"/>
          <c:tx>
            <c:strRef>
              <c:f>Sheet1!$D$1</c:f>
              <c:strCache>
                <c:ptCount val="1"/>
                <c:pt idx="0">
                  <c:v>Hit@10</c:v>
                </c:pt>
              </c:strCache>
            </c:strRef>
          </c:tx>
          <c:spPr>
            <a:solidFill>
              <a:srgbClr val="0F7C80"/>
            </a:solidFill>
            <a:effectLst/>
          </c:spPr>
          <c:invertIfNegative val="0"/>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cat>
            <c:multiLvlStrRef>
              <c:f>Sheet1!$A$2:$A$6</c:f>
              <c:multiLvlStrCache>
                <c:ptCount val="5"/>
                <c:lvl>
                  <c:pt idx="0">
                    <c:v>Content
(tfidf)</c:v>
                  </c:pt>
                  <c:pt idx="1">
                    <c:v>Hybrid
(tfidf)</c:v>
                  </c:pt>
                  <c:pt idx="2">
                    <c:v>Popularity
(most answers)</c:v>
                  </c:pt>
                  <c:pt idx="3">
                    <c:v>Content
(embedding)</c:v>
                  </c:pt>
                  <c:pt idx="4">
                    <c:v>Hybrid
(embedding)</c:v>
                  </c:pt>
                </c:lvl>
              </c:multiLvlStrCache>
            </c:multiLvlStrRef>
          </c:cat>
          <c:val>
            <c:numRef>
              <c:f>Sheet1!$D$2:$D$6</c:f>
              <c:numCache>
                <c:formatCode>General</c:formatCode>
                <c:ptCount val="5"/>
                <c:pt idx="0">
                  <c:v>71</c:v>
                </c:pt>
                <c:pt idx="1">
                  <c:v>80</c:v>
                </c:pt>
                <c:pt idx="2">
                  <c:v>70</c:v>
                </c:pt>
                <c:pt idx="3">
                  <c:v>73</c:v>
                </c:pt>
                <c:pt idx="4">
                  <c:v>81</c:v>
                </c:pt>
              </c:numCache>
            </c:numRef>
          </c:val>
        </c:ser>
        <c:dLbls>
          <c:numFmt formatCode="#,##0" sourceLinked="0"/>
          <c:txPr>
            <a:bodyPr/>
            <a:lstStyle/>
            <a:p>
              <a:pPr>
                <a:defRPr b="0" i="0" strike="noStrike" sz="1000" u="none">
                  <a:solidFill>
                    <a:srgbClr val="1F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430"/>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capstone project analyses an online learning community — the CS50 Stack Exchange site where students of Harvard's CS50 course help each other. I combine NLP, to understand what learners talk about, with network science, to understand who helps whom and how knowledge spreads.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communities generate a lot of data, but instructors and platforms have little visibility. These four questions drive the project. The goal is not just analysis but usable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a collector for the Stack Exchange API. Without an API key it only returns 25 pages per query, so it walks back through time in date windows. The data goes into PostgreSQL with primary and foreign keys. Notice the spike in 2020 during the lockdown.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a pipeline of Python modules. Each step reads the previous step's output. The same code runs from PostgreSQL or from CSV files, and fixed seeds make it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LDA with BERTopic, which uses sentence embeddings, UMAP and HDBSCAN. I scored both on coherence, diversity and agreement with the course's own tags. BERTopic wins on all three, and its topics match the CS50 problem sets almost one to one, without ever seeing the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difficulty index combines three signals. The hardest topic is Tideman, which CS50 students widely regard as the hardest problem set, so the index agrees with what learners already say. This is directly actionable for instructors.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and every comment by someone other than the asker, is an edge from helper to learner. The network is extremely centralised: the top 1% give most of the help. I validated the expert ranking against accepted answers, which the network never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Lorenz-style curve shows how unequal help is. Over time the community shrank after 2020, but the dependence on the top experts stayed. Platforms should recognise and support these experts, and spread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adopts a topic when they first post in it. I checked whether they had talked to an earlier adopter beforehand, and compared that with 200 random shufflings of the adoption times. Overall there is a significant effect, strongest for the advanced topics. This is evidence consistent with influence, not proof of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simulated diffusion from different seed sets. CELF greedy is the textbook optimiser, but in such a centralised network simple rankings do almost as well. Importantly, I validated the simulation: each user's simulated spread correlates 0.86 with how far their help actually travelled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one negative result. Getting your first question answered does not make you more likely to become a helper. An earlier version of my code said it did, but that was a bug. Catching it through validation is part of doing data science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information available when the question is posted is used, and I split by time, which is how the model would be used in practice. The best model is a Random Forest at 0.675 ROC-AUC, in line with published work. The top features give practical advice: tag properly and include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new question, the system finds similar past questions by meaning and scores the people who answered them, then adds authority and recency. Hit at 10 means a person who really answered the question appears in the top 10. The hybrid reaches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short live demo. [Open the dashboard: show Overview, the topic map, the network graph, then type a question into Check your question and Expert finder, and finally run a SQL query on the Database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takeaways, each backed by a result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study has limits; these are mine, and each suggests a natural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or show any part of the dashboard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097280"/>
            <a:ext cx="7315200" cy="365760"/>
          </a:xfrm>
          <a:prstGeom prst="rect">
            <a:avLst/>
          </a:prstGeom>
          <a:noFill/>
          <a:ln/>
        </p:spPr>
        <p:txBody>
          <a:bodyPr wrap="square" lIns="0" tIns="0" rIns="0" bIns="0" rtlCol="0" anchor="ctr"/>
          <a:lstStyle/>
          <a:p>
            <a:pPr indent="0" marL="0">
              <a:buNone/>
            </a:pPr>
            <a:r>
              <a:rPr lang="en-US" sz="1400" b="1" spc="400" kern="0" dirty="0">
                <a:solidFill>
                  <a:srgbClr val="E8A33D"/>
                </a:solidFill>
                <a:latin typeface="Calibri" pitchFamily="34" charset="0"/>
                <a:ea typeface="Calibri" pitchFamily="34" charset="-122"/>
                <a:cs typeface="Calibri" pitchFamily="34" charset="-120"/>
              </a:rPr>
              <a:t>CAPSTONE PROJECT</a:t>
            </a:r>
            <a:endParaRPr lang="en-US" sz="1400" dirty="0"/>
          </a:p>
        </p:txBody>
      </p:sp>
      <p:sp>
        <p:nvSpPr>
          <p:cNvPr id="3" name="Text 1"/>
          <p:cNvSpPr txBox="1"/>
          <p:nvPr/>
        </p:nvSpPr>
        <p:spPr>
          <a:xfrm>
            <a:off x="548640" y="164592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Learning Community Analytics</a:t>
            </a:r>
            <a:endParaRPr lang="en-US" sz="4800" dirty="0"/>
          </a:p>
        </p:txBody>
      </p:sp>
      <p:sp>
        <p:nvSpPr>
          <p:cNvPr id="4" name="Text 2"/>
          <p:cNvSpPr txBox="1"/>
          <p:nvPr/>
        </p:nvSpPr>
        <p:spPr>
          <a:xfrm>
            <a:off x="548640" y="2560320"/>
            <a:ext cx="10058400" cy="640080"/>
          </a:xfrm>
          <a:prstGeom prst="rect">
            <a:avLst/>
          </a:prstGeom>
          <a:noFill/>
          <a:ln/>
        </p:spPr>
        <p:txBody>
          <a:bodyPr wrap="square" lIns="0" tIns="0" rIns="0" bIns="0" rtlCol="0" anchor="ctr"/>
          <a:lstStyle/>
          <a:p>
            <a:pPr indent="0" marL="0">
              <a:buNone/>
            </a:pPr>
            <a:r>
              <a:rPr lang="en-US" sz="2600" dirty="0">
                <a:solidFill>
                  <a:srgbClr val="CADCFC"/>
                </a:solidFill>
                <a:latin typeface="Cambria" pitchFamily="34" charset="0"/>
                <a:ea typeface="Cambria" pitchFamily="34" charset="-122"/>
                <a:cs typeface="Cambria" pitchFamily="34" charset="-120"/>
              </a:rPr>
              <a:t>using NLP Topics and Knowledge Diffusion Networks</a:t>
            </a:r>
            <a:endParaRPr lang="en-US" sz="2600" dirty="0"/>
          </a:p>
        </p:txBody>
      </p:sp>
      <p:sp>
        <p:nvSpPr>
          <p:cNvPr id="5" name="Text 3"/>
          <p:cNvSpPr txBox="1"/>
          <p:nvPr/>
        </p:nvSpPr>
        <p:spPr>
          <a:xfrm>
            <a:off x="548640" y="3383280"/>
            <a:ext cx="10058400" cy="457200"/>
          </a:xfrm>
          <a:prstGeom prst="rect">
            <a:avLst/>
          </a:prstGeom>
          <a:noFill/>
          <a:ln/>
        </p:spPr>
        <p:txBody>
          <a:bodyPr wrap="square" lIns="0" tIns="0" rIns="0" bIns="0" rtlCol="0" anchor="ctr"/>
          <a:lstStyle/>
          <a:p>
            <a:pPr indent="0" marL="0">
              <a:buNone/>
            </a:pPr>
            <a:r>
              <a:rPr lang="en-US" sz="1600" dirty="0">
                <a:solidFill>
                  <a:srgbClr val="AEB8CC"/>
                </a:solidFill>
                <a:latin typeface="Calibri" pitchFamily="34" charset="0"/>
                <a:ea typeface="Calibri" pitchFamily="34" charset="-122"/>
                <a:cs typeface="Calibri" pitchFamily="34" charset="-120"/>
              </a:rPr>
              <a:t>A case study of the CS50 Stack Exchange community · 4,000 questions · 2019–2026</a:t>
            </a:r>
            <a:endParaRPr lang="en-US" sz="1600" dirty="0"/>
          </a:p>
        </p:txBody>
      </p:sp>
      <p:sp>
        <p:nvSpPr>
          <p:cNvPr id="6" name="Text 4"/>
          <p:cNvSpPr txBox="1"/>
          <p:nvPr/>
        </p:nvSpPr>
        <p:spPr>
          <a:xfrm>
            <a:off x="548640" y="4937760"/>
            <a:ext cx="822960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Prateek Chauhan</a:t>
            </a:r>
            <a:endParaRPr lang="en-US" sz="2000" dirty="0"/>
          </a:p>
          <a:p>
            <a:pPr indent="0" marL="0">
              <a:buNone/>
            </a:pPr>
            <a:r>
              <a:rPr lang="en-US" sz="1400" dirty="0">
                <a:solidFill>
                  <a:srgbClr val="AEB8CC"/>
                </a:solidFill>
                <a:latin typeface="Calibri" pitchFamily="34" charset="0"/>
                <a:ea typeface="Calibri" pitchFamily="34" charset="-122"/>
                <a:cs typeface="Calibri" pitchFamily="34" charset="-120"/>
              </a:rPr>
              <a:t>Guide: ____________    ·    September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problem</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Learning communities are rich in data, but instructors can't see inside them</a:t>
            </a:r>
            <a:endParaRPr lang="en-US" sz="1600" dirty="0"/>
          </a:p>
        </p:txBody>
      </p:sp>
      <p:sp>
        <p:nvSpPr>
          <p:cNvPr id="5" name="Shape 3"/>
          <p:cNvSpPr/>
          <p:nvPr/>
        </p:nvSpPr>
        <p:spPr>
          <a:xfrm>
            <a:off x="548640" y="1737360"/>
            <a:ext cx="457200" cy="457200"/>
          </a:xfrm>
          <a:prstGeom prst="ellipse">
            <a:avLst/>
          </a:prstGeom>
          <a:solidFill>
            <a:srgbClr val="0F7C80"/>
          </a:solidFill>
          <a:ln w="12700">
            <a:solidFill>
              <a:srgbClr val="0F7C80"/>
            </a:solidFill>
            <a:prstDash val="solid"/>
          </a:ln>
        </p:spPr>
      </p:sp>
      <p:sp>
        <p:nvSpPr>
          <p:cNvPr id="6" name="Text 4"/>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188720" y="1691640"/>
            <a:ext cx="594360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What do learners struggle with?</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Thousands of questions, no overview of the hard topics</a:t>
            </a:r>
            <a:endParaRPr lang="en-US" sz="1600" dirty="0"/>
          </a:p>
        </p:txBody>
      </p:sp>
      <p:sp>
        <p:nvSpPr>
          <p:cNvPr id="8" name="Shape 6"/>
          <p:cNvSpPr/>
          <p:nvPr/>
        </p:nvSpPr>
        <p:spPr>
          <a:xfrm>
            <a:off x="548640" y="2834640"/>
            <a:ext cx="457200" cy="457200"/>
          </a:xfrm>
          <a:prstGeom prst="ellipse">
            <a:avLst/>
          </a:prstGeom>
          <a:solidFill>
            <a:srgbClr val="0F7C80"/>
          </a:solidFill>
          <a:ln w="12700">
            <a:solidFill>
              <a:srgbClr val="0F7C80"/>
            </a:solidFill>
            <a:prstDash val="solid"/>
          </a:ln>
        </p:spPr>
      </p:sp>
      <p:sp>
        <p:nvSpPr>
          <p:cNvPr id="9" name="Text 7"/>
          <p:cNvSpPr txBox="1"/>
          <p:nvPr/>
        </p:nvSpPr>
        <p:spPr>
          <a:xfrm>
            <a:off x="548640" y="2834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188720" y="2788920"/>
            <a:ext cx="594360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Who carries the community?</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A few experts may answer most questions — a single point of failure</a:t>
            </a:r>
            <a:endParaRPr lang="en-US" sz="1600" dirty="0"/>
          </a:p>
        </p:txBody>
      </p:sp>
      <p:sp>
        <p:nvSpPr>
          <p:cNvPr id="11" name="Shape 9"/>
          <p:cNvSpPr/>
          <p:nvPr/>
        </p:nvSpPr>
        <p:spPr>
          <a:xfrm>
            <a:off x="548640" y="3931920"/>
            <a:ext cx="457200" cy="457200"/>
          </a:xfrm>
          <a:prstGeom prst="ellipse">
            <a:avLst/>
          </a:prstGeom>
          <a:solidFill>
            <a:srgbClr val="0F7C80"/>
          </a:solidFill>
          <a:ln w="12700">
            <a:solidFill>
              <a:srgbClr val="0F7C80"/>
            </a:solidFill>
            <a:prstDash val="solid"/>
          </a:ln>
        </p:spPr>
      </p:sp>
      <p:sp>
        <p:nvSpPr>
          <p:cNvPr id="12" name="Text 10"/>
          <p:cNvSpPr txBox="1"/>
          <p:nvPr/>
        </p:nvSpPr>
        <p:spPr>
          <a:xfrm>
            <a:off x="548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188720" y="3886200"/>
            <a:ext cx="594360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How does knowledge spread?</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Do learners learn from each other, or each on their own?</a:t>
            </a:r>
            <a:endParaRPr lang="en-US" sz="1600" dirty="0"/>
          </a:p>
        </p:txBody>
      </p:sp>
      <p:sp>
        <p:nvSpPr>
          <p:cNvPr id="14" name="Shape 12"/>
          <p:cNvSpPr/>
          <p:nvPr/>
        </p:nvSpPr>
        <p:spPr>
          <a:xfrm>
            <a:off x="548640" y="5029200"/>
            <a:ext cx="457200" cy="457200"/>
          </a:xfrm>
          <a:prstGeom prst="ellipse">
            <a:avLst/>
          </a:prstGeom>
          <a:solidFill>
            <a:srgbClr val="0F7C80"/>
          </a:solidFill>
          <a:ln w="12700">
            <a:solidFill>
              <a:srgbClr val="0F7C80"/>
            </a:solidFill>
            <a:prstDash val="solid"/>
          </a:ln>
        </p:spPr>
      </p:sp>
      <p:sp>
        <p:nvSpPr>
          <p:cNvPr id="15" name="Text 13"/>
          <p:cNvSpPr txBox="1"/>
          <p:nvPr/>
        </p:nvSpPr>
        <p:spPr>
          <a:xfrm>
            <a:off x="548640" y="5029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txBox="1"/>
          <p:nvPr/>
        </p:nvSpPr>
        <p:spPr>
          <a:xfrm>
            <a:off x="1188720" y="4983480"/>
            <a:ext cx="594360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Which questions will go unanswered, and who could answer them?</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Stuck learners wait hours or days</a:t>
            </a:r>
            <a:endParaRPr lang="en-US" sz="1600" dirty="0"/>
          </a:p>
        </p:txBody>
      </p:sp>
      <p:sp>
        <p:nvSpPr>
          <p:cNvPr id="17" name="Shape 15"/>
          <p:cNvSpPr/>
          <p:nvPr/>
        </p:nvSpPr>
        <p:spPr>
          <a:xfrm>
            <a:off x="7680960" y="1737360"/>
            <a:ext cx="3931920" cy="4206240"/>
          </a:xfrm>
          <a:prstGeom prst="roundRect">
            <a:avLst>
              <a:gd name="adj" fmla="val 3488"/>
            </a:avLst>
          </a:prstGeom>
          <a:solidFill>
            <a:srgbClr val="14213D"/>
          </a:solidFill>
          <a:ln w="12700">
            <a:solidFill>
              <a:srgbClr val="14213D"/>
            </a:solidFill>
            <a:prstDash val="solid"/>
          </a:ln>
        </p:spPr>
      </p:sp>
      <p:sp>
        <p:nvSpPr>
          <p:cNvPr id="18" name="Text 16"/>
          <p:cNvSpPr txBox="1"/>
          <p:nvPr/>
        </p:nvSpPr>
        <p:spPr>
          <a:xfrm>
            <a:off x="7955280" y="1920240"/>
            <a:ext cx="3383280" cy="3840480"/>
          </a:xfrm>
          <a:prstGeom prst="rect">
            <a:avLst/>
          </a:prstGeom>
          <a:noFill/>
          <a:ln/>
        </p:spPr>
        <p:txBody>
          <a:bodyPr wrap="square" lIns="0" tIns="0" rIns="0" bIns="0" rtlCol="0" anchor="t"/>
          <a:lstStyle/>
          <a:p>
            <a:pPr indent="0" marL="0">
              <a:buNone/>
            </a:pPr>
            <a:r>
              <a:rPr lang="en-US" sz="2000" b="1" dirty="0">
                <a:solidFill>
                  <a:srgbClr val="E8A33D"/>
                </a:solidFill>
                <a:latin typeface="Calibri" pitchFamily="34" charset="0"/>
                <a:ea typeface="Calibri" pitchFamily="34" charset="-122"/>
                <a:cs typeface="Calibri" pitchFamily="34" charset="-120"/>
              </a:rPr>
              <a:t>Goal</a:t>
            </a:r>
            <a:endParaRPr lang="en-US" sz="2000" dirty="0"/>
          </a:p>
          <a:p>
            <a:pPr indent="0" marL="0">
              <a:buNone/>
            </a:pPr>
            <a:r>
              <a:rPr lang="en-US" sz="1600" dirty="0">
                <a:solidFill>
                  <a:srgbClr val="FFFFFF"/>
                </a:solidFill>
                <a:latin typeface="Calibri" pitchFamily="34" charset="0"/>
                <a:ea typeface="Calibri" pitchFamily="34" charset="-122"/>
                <a:cs typeface="Calibri" pitchFamily="34" charset="-120"/>
              </a:rPr>
              <a:t>Turn raw community data into insight and tools: topics, experts, diffusion, answer prediction and expert recommendation, in one dashboard backed by PostgreSQL.</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data: CS50 Stack Exchange</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Collected from the Stack Exchange API · 2019-05-13 to 2026-09-18</a:t>
            </a:r>
            <a:endParaRPr lang="en-US" sz="1600" dirty="0"/>
          </a:p>
        </p:txBody>
      </p:sp>
      <p:sp>
        <p:nvSpPr>
          <p:cNvPr id="5" name="Shape 3"/>
          <p:cNvSpPr/>
          <p:nvPr/>
        </p:nvSpPr>
        <p:spPr>
          <a:xfrm>
            <a:off x="548640" y="1645920"/>
            <a:ext cx="2606040" cy="1325880"/>
          </a:xfrm>
          <a:prstGeom prst="roundRect">
            <a:avLst>
              <a:gd name="adj" fmla="val 8276"/>
            </a:avLst>
          </a:prstGeom>
          <a:solidFill>
            <a:srgbClr val="F3F6F8"/>
          </a:solidFill>
          <a:ln w="12700">
            <a:solidFill>
              <a:srgbClr val="F3F6F8"/>
            </a:solidFill>
            <a:prstDash val="solid"/>
          </a:ln>
        </p:spPr>
      </p:sp>
      <p:sp>
        <p:nvSpPr>
          <p:cNvPr id="6" name="Text 4"/>
          <p:cNvSpPr txBox="1"/>
          <p:nvPr/>
        </p:nvSpPr>
        <p:spPr>
          <a:xfrm>
            <a:off x="731520" y="1755648"/>
            <a:ext cx="224028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4,000</a:t>
            </a:r>
            <a:endParaRPr lang="en-US" sz="3400" dirty="0"/>
          </a:p>
        </p:txBody>
      </p:sp>
      <p:sp>
        <p:nvSpPr>
          <p:cNvPr id="7" name="Text 5"/>
          <p:cNvSpPr txBox="1"/>
          <p:nvPr/>
        </p:nvSpPr>
        <p:spPr>
          <a:xfrm>
            <a:off x="731520" y="2423160"/>
            <a:ext cx="224028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questions</a:t>
            </a:r>
            <a:endParaRPr lang="en-US" sz="1300" dirty="0"/>
          </a:p>
        </p:txBody>
      </p:sp>
      <p:sp>
        <p:nvSpPr>
          <p:cNvPr id="8" name="Shape 6"/>
          <p:cNvSpPr/>
          <p:nvPr/>
        </p:nvSpPr>
        <p:spPr>
          <a:xfrm>
            <a:off x="3355848" y="1645920"/>
            <a:ext cx="2606040" cy="1325880"/>
          </a:xfrm>
          <a:prstGeom prst="roundRect">
            <a:avLst>
              <a:gd name="adj" fmla="val 8276"/>
            </a:avLst>
          </a:prstGeom>
          <a:solidFill>
            <a:srgbClr val="F3F6F8"/>
          </a:solidFill>
          <a:ln w="12700">
            <a:solidFill>
              <a:srgbClr val="F3F6F8"/>
            </a:solidFill>
            <a:prstDash val="solid"/>
          </a:ln>
        </p:spPr>
      </p:sp>
      <p:sp>
        <p:nvSpPr>
          <p:cNvPr id="9" name="Text 7"/>
          <p:cNvSpPr txBox="1"/>
          <p:nvPr/>
        </p:nvSpPr>
        <p:spPr>
          <a:xfrm>
            <a:off x="3538728" y="1755648"/>
            <a:ext cx="224028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4,253</a:t>
            </a:r>
            <a:endParaRPr lang="en-US" sz="3400" dirty="0"/>
          </a:p>
        </p:txBody>
      </p:sp>
      <p:sp>
        <p:nvSpPr>
          <p:cNvPr id="10" name="Text 8"/>
          <p:cNvSpPr txBox="1"/>
          <p:nvPr/>
        </p:nvSpPr>
        <p:spPr>
          <a:xfrm>
            <a:off x="3538728" y="2423160"/>
            <a:ext cx="224028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answers</a:t>
            </a:r>
            <a:endParaRPr lang="en-US" sz="1300" dirty="0"/>
          </a:p>
        </p:txBody>
      </p:sp>
      <p:sp>
        <p:nvSpPr>
          <p:cNvPr id="11" name="Shape 9"/>
          <p:cNvSpPr/>
          <p:nvPr/>
        </p:nvSpPr>
        <p:spPr>
          <a:xfrm>
            <a:off x="6163056" y="1645920"/>
            <a:ext cx="2606040" cy="1325880"/>
          </a:xfrm>
          <a:prstGeom prst="roundRect">
            <a:avLst>
              <a:gd name="adj" fmla="val 8276"/>
            </a:avLst>
          </a:prstGeom>
          <a:solidFill>
            <a:srgbClr val="F3F6F8"/>
          </a:solidFill>
          <a:ln w="12700">
            <a:solidFill>
              <a:srgbClr val="F3F6F8"/>
            </a:solidFill>
            <a:prstDash val="solid"/>
          </a:ln>
        </p:spPr>
      </p:sp>
      <p:sp>
        <p:nvSpPr>
          <p:cNvPr id="12" name="Text 10"/>
          <p:cNvSpPr txBox="1"/>
          <p:nvPr/>
        </p:nvSpPr>
        <p:spPr>
          <a:xfrm>
            <a:off x="6345936" y="1755648"/>
            <a:ext cx="224028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7,168</a:t>
            </a:r>
            <a:endParaRPr lang="en-US" sz="3400" dirty="0"/>
          </a:p>
        </p:txBody>
      </p:sp>
      <p:sp>
        <p:nvSpPr>
          <p:cNvPr id="13" name="Text 11"/>
          <p:cNvSpPr txBox="1"/>
          <p:nvPr/>
        </p:nvSpPr>
        <p:spPr>
          <a:xfrm>
            <a:off x="6345936" y="2423160"/>
            <a:ext cx="224028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comments</a:t>
            </a:r>
            <a:endParaRPr lang="en-US" sz="1300" dirty="0"/>
          </a:p>
        </p:txBody>
      </p:sp>
      <p:sp>
        <p:nvSpPr>
          <p:cNvPr id="14" name="Shape 12"/>
          <p:cNvSpPr/>
          <p:nvPr/>
        </p:nvSpPr>
        <p:spPr>
          <a:xfrm>
            <a:off x="8970264" y="1645920"/>
            <a:ext cx="2606040" cy="1325880"/>
          </a:xfrm>
          <a:prstGeom prst="roundRect">
            <a:avLst>
              <a:gd name="adj" fmla="val 8276"/>
            </a:avLst>
          </a:prstGeom>
          <a:solidFill>
            <a:srgbClr val="F3F6F8"/>
          </a:solidFill>
          <a:ln w="12700">
            <a:solidFill>
              <a:srgbClr val="F3F6F8"/>
            </a:solidFill>
            <a:prstDash val="solid"/>
          </a:ln>
        </p:spPr>
      </p:sp>
      <p:sp>
        <p:nvSpPr>
          <p:cNvPr id="15" name="Text 13"/>
          <p:cNvSpPr txBox="1"/>
          <p:nvPr/>
        </p:nvSpPr>
        <p:spPr>
          <a:xfrm>
            <a:off x="9153144" y="1755648"/>
            <a:ext cx="224028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3,003</a:t>
            </a:r>
            <a:endParaRPr lang="en-US" sz="3400" dirty="0"/>
          </a:p>
        </p:txBody>
      </p:sp>
      <p:sp>
        <p:nvSpPr>
          <p:cNvPr id="16" name="Text 14"/>
          <p:cNvSpPr txBox="1"/>
          <p:nvPr/>
        </p:nvSpPr>
        <p:spPr>
          <a:xfrm>
            <a:off x="9153144" y="2423160"/>
            <a:ext cx="224028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users</a:t>
            </a:r>
            <a:endParaRPr lang="en-US" sz="1300" dirty="0"/>
          </a:p>
        </p:txBody>
      </p:sp>
      <p:pic>
        <p:nvPicPr>
          <p:cNvPr id="17" name="Image 0" descr="activity over time">    </p:cNvPr>
          <p:cNvPicPr>
            <a:picLocks noChangeAspect="1"/>
          </p:cNvPicPr>
          <p:nvPr/>
        </p:nvPicPr>
        <p:blipFill>
          <a:blip r:embed="rId1"/>
          <a:stretch>
            <a:fillRect/>
          </a:stretch>
        </p:blipFill>
        <p:spPr>
          <a:xfrm>
            <a:off x="548640" y="3236976"/>
            <a:ext cx="7589520" cy="3035808"/>
          </a:xfrm>
          <a:prstGeom prst="rect">
            <a:avLst/>
          </a:prstGeom>
        </p:spPr>
      </p:pic>
      <p:sp>
        <p:nvSpPr>
          <p:cNvPr id="18" name="Text 15"/>
          <p:cNvSpPr txBox="1"/>
          <p:nvPr/>
        </p:nvSpPr>
        <p:spPr>
          <a:xfrm>
            <a:off x="8412480" y="3383280"/>
            <a:ext cx="329184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Activity peaked in 2020Q2 (735 questions): the COVID-19 lockdown</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80% of questions include code; 46% mention an error</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Median wait for a first answer: 4.0 hours</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Stored in PostgreSQL: 5 raw tables + 11 result tables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System workflow</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One command runs the whole analysis (~10 minutes on a laptop)</a:t>
            </a:r>
            <a:endParaRPr lang="en-US" sz="1600" dirty="0"/>
          </a:p>
        </p:txBody>
      </p:sp>
      <p:sp>
        <p:nvSpPr>
          <p:cNvPr id="5" name="Shape 3"/>
          <p:cNvSpPr/>
          <p:nvPr/>
        </p:nvSpPr>
        <p:spPr>
          <a:xfrm>
            <a:off x="548640" y="1737360"/>
            <a:ext cx="2606040" cy="1417320"/>
          </a:xfrm>
          <a:prstGeom prst="roundRect">
            <a:avLst>
              <a:gd name="adj" fmla="val 7742"/>
            </a:avLst>
          </a:prstGeom>
          <a:solidFill>
            <a:srgbClr val="F3F6F8"/>
          </a:solidFill>
          <a:ln w="12700">
            <a:solidFill>
              <a:srgbClr val="F3F6F8"/>
            </a:solidFill>
            <a:prstDash val="solid"/>
          </a:ln>
        </p:spPr>
      </p:sp>
      <p:sp>
        <p:nvSpPr>
          <p:cNvPr id="6" name="Shape 4"/>
          <p:cNvSpPr/>
          <p:nvPr/>
        </p:nvSpPr>
        <p:spPr>
          <a:xfrm>
            <a:off x="731520" y="1920240"/>
            <a:ext cx="411480" cy="411480"/>
          </a:xfrm>
          <a:prstGeom prst="ellipse">
            <a:avLst/>
          </a:prstGeom>
          <a:solidFill>
            <a:srgbClr val="14213D"/>
          </a:solidFill>
          <a:ln w="12700">
            <a:solidFill>
              <a:srgbClr val="14213D"/>
            </a:solidFill>
            <a:prstDash val="solid"/>
          </a:ln>
        </p:spPr>
      </p:sp>
      <p:sp>
        <p:nvSpPr>
          <p:cNvPr id="7" name="Text 5"/>
          <p:cNvSpPr txBox="1"/>
          <p:nvPr/>
        </p:nvSpPr>
        <p:spPr>
          <a:xfrm>
            <a:off x="73152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731520" y="242316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Collect</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Stack Exchange API</a:t>
            </a:r>
            <a:endParaRPr lang="en-US" sz="1700" dirty="0"/>
          </a:p>
        </p:txBody>
      </p:sp>
      <p:sp>
        <p:nvSpPr>
          <p:cNvPr id="9" name="Text 7"/>
          <p:cNvSpPr txBox="1"/>
          <p:nvPr/>
        </p:nvSpPr>
        <p:spPr>
          <a:xfrm>
            <a:off x="3136392" y="2194560"/>
            <a:ext cx="274320" cy="457200"/>
          </a:xfrm>
          <a:prstGeom prst="rect">
            <a:avLst/>
          </a:prstGeom>
          <a:noFill/>
          <a:ln/>
        </p:spPr>
        <p:txBody>
          <a:bodyPr wrap="square" lIns="0" tIns="0" rIns="0" bIns="0" rtlCol="0" anchor="ctr"/>
          <a:lstStyle/>
          <a:p>
            <a:pPr algn="ctr" indent="0" marL="0">
              <a:buNone/>
            </a:pPr>
            <a:r>
              <a:rPr lang="en-US" sz="1800" dirty="0">
                <a:solidFill>
                  <a:srgbClr val="5B6272"/>
                </a:solidFill>
              </a:rPr>
              <a:t>→</a:t>
            </a:r>
            <a:endParaRPr lang="en-US" sz="1800" dirty="0"/>
          </a:p>
        </p:txBody>
      </p:sp>
      <p:sp>
        <p:nvSpPr>
          <p:cNvPr id="10" name="Shape 8"/>
          <p:cNvSpPr/>
          <p:nvPr/>
        </p:nvSpPr>
        <p:spPr>
          <a:xfrm>
            <a:off x="3383280" y="1737360"/>
            <a:ext cx="2606040" cy="1417320"/>
          </a:xfrm>
          <a:prstGeom prst="roundRect">
            <a:avLst>
              <a:gd name="adj" fmla="val 7742"/>
            </a:avLst>
          </a:prstGeom>
          <a:solidFill>
            <a:srgbClr val="F3F6F8"/>
          </a:solidFill>
          <a:ln w="12700">
            <a:solidFill>
              <a:srgbClr val="F3F6F8"/>
            </a:solidFill>
            <a:prstDash val="solid"/>
          </a:ln>
        </p:spPr>
      </p:sp>
      <p:sp>
        <p:nvSpPr>
          <p:cNvPr id="11" name="Shape 9"/>
          <p:cNvSpPr/>
          <p:nvPr/>
        </p:nvSpPr>
        <p:spPr>
          <a:xfrm>
            <a:off x="3566160" y="1920240"/>
            <a:ext cx="411480" cy="411480"/>
          </a:xfrm>
          <a:prstGeom prst="ellipse">
            <a:avLst/>
          </a:prstGeom>
          <a:solidFill>
            <a:srgbClr val="14213D"/>
          </a:solidFill>
          <a:ln w="12700">
            <a:solidFill>
              <a:srgbClr val="14213D"/>
            </a:solidFill>
            <a:prstDash val="solid"/>
          </a:ln>
        </p:spPr>
      </p:sp>
      <p:sp>
        <p:nvSpPr>
          <p:cNvPr id="12" name="Text 10"/>
          <p:cNvSpPr txBox="1"/>
          <p:nvPr/>
        </p:nvSpPr>
        <p:spPr>
          <a:xfrm>
            <a:off x="356616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3566160" y="242316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Store</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PostgreSQL</a:t>
            </a:r>
            <a:endParaRPr lang="en-US" sz="1700" dirty="0"/>
          </a:p>
        </p:txBody>
      </p:sp>
      <p:sp>
        <p:nvSpPr>
          <p:cNvPr id="14" name="Text 12"/>
          <p:cNvSpPr txBox="1"/>
          <p:nvPr/>
        </p:nvSpPr>
        <p:spPr>
          <a:xfrm>
            <a:off x="5971032" y="2194560"/>
            <a:ext cx="274320" cy="457200"/>
          </a:xfrm>
          <a:prstGeom prst="rect">
            <a:avLst/>
          </a:prstGeom>
          <a:noFill/>
          <a:ln/>
        </p:spPr>
        <p:txBody>
          <a:bodyPr wrap="square" lIns="0" tIns="0" rIns="0" bIns="0" rtlCol="0" anchor="ctr"/>
          <a:lstStyle/>
          <a:p>
            <a:pPr algn="ctr" indent="0" marL="0">
              <a:buNone/>
            </a:pPr>
            <a:r>
              <a:rPr lang="en-US" sz="1800" dirty="0">
                <a:solidFill>
                  <a:srgbClr val="5B6272"/>
                </a:solidFill>
              </a:rPr>
              <a:t>→</a:t>
            </a:r>
            <a:endParaRPr lang="en-US" sz="1800" dirty="0"/>
          </a:p>
        </p:txBody>
      </p:sp>
      <p:sp>
        <p:nvSpPr>
          <p:cNvPr id="15" name="Shape 13"/>
          <p:cNvSpPr/>
          <p:nvPr/>
        </p:nvSpPr>
        <p:spPr>
          <a:xfrm>
            <a:off x="6217920" y="1737360"/>
            <a:ext cx="2606040" cy="1417320"/>
          </a:xfrm>
          <a:prstGeom prst="roundRect">
            <a:avLst>
              <a:gd name="adj" fmla="val 7742"/>
            </a:avLst>
          </a:prstGeom>
          <a:solidFill>
            <a:srgbClr val="F3F6F8"/>
          </a:solidFill>
          <a:ln w="12700">
            <a:solidFill>
              <a:srgbClr val="F3F6F8"/>
            </a:solidFill>
            <a:prstDash val="solid"/>
          </a:ln>
        </p:spPr>
      </p:sp>
      <p:sp>
        <p:nvSpPr>
          <p:cNvPr id="16" name="Shape 14"/>
          <p:cNvSpPr/>
          <p:nvPr/>
        </p:nvSpPr>
        <p:spPr>
          <a:xfrm>
            <a:off x="6400800" y="1920240"/>
            <a:ext cx="411480" cy="411480"/>
          </a:xfrm>
          <a:prstGeom prst="ellipse">
            <a:avLst/>
          </a:prstGeom>
          <a:solidFill>
            <a:srgbClr val="0F7C80"/>
          </a:solidFill>
          <a:ln w="12700">
            <a:solidFill>
              <a:srgbClr val="0F7C80"/>
            </a:solidFill>
            <a:prstDash val="solid"/>
          </a:ln>
        </p:spPr>
      </p:sp>
      <p:sp>
        <p:nvSpPr>
          <p:cNvPr id="17" name="Text 15"/>
          <p:cNvSpPr txBox="1"/>
          <p:nvPr/>
        </p:nvSpPr>
        <p:spPr>
          <a:xfrm>
            <a:off x="640080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6400800" y="242316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Clean</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HTML, code, lemmas, confusion score</a:t>
            </a:r>
            <a:endParaRPr lang="en-US" sz="1700" dirty="0"/>
          </a:p>
        </p:txBody>
      </p:sp>
      <p:sp>
        <p:nvSpPr>
          <p:cNvPr id="19" name="Text 17"/>
          <p:cNvSpPr txBox="1"/>
          <p:nvPr/>
        </p:nvSpPr>
        <p:spPr>
          <a:xfrm>
            <a:off x="8805672" y="2194560"/>
            <a:ext cx="274320" cy="457200"/>
          </a:xfrm>
          <a:prstGeom prst="rect">
            <a:avLst/>
          </a:prstGeom>
          <a:noFill/>
          <a:ln/>
        </p:spPr>
        <p:txBody>
          <a:bodyPr wrap="square" lIns="0" tIns="0" rIns="0" bIns="0" rtlCol="0" anchor="ctr"/>
          <a:lstStyle/>
          <a:p>
            <a:pPr algn="ctr" indent="0" marL="0">
              <a:buNone/>
            </a:pPr>
            <a:r>
              <a:rPr lang="en-US" sz="1800" dirty="0">
                <a:solidFill>
                  <a:srgbClr val="5B6272"/>
                </a:solidFill>
              </a:rPr>
              <a:t>→</a:t>
            </a:r>
            <a:endParaRPr lang="en-US" sz="1800" dirty="0"/>
          </a:p>
        </p:txBody>
      </p:sp>
      <p:sp>
        <p:nvSpPr>
          <p:cNvPr id="20" name="Shape 18"/>
          <p:cNvSpPr/>
          <p:nvPr/>
        </p:nvSpPr>
        <p:spPr>
          <a:xfrm>
            <a:off x="9052560" y="1737360"/>
            <a:ext cx="2606040" cy="1417320"/>
          </a:xfrm>
          <a:prstGeom prst="roundRect">
            <a:avLst>
              <a:gd name="adj" fmla="val 7742"/>
            </a:avLst>
          </a:prstGeom>
          <a:solidFill>
            <a:srgbClr val="F3F6F8"/>
          </a:solidFill>
          <a:ln w="12700">
            <a:solidFill>
              <a:srgbClr val="F3F6F8"/>
            </a:solidFill>
            <a:prstDash val="solid"/>
          </a:ln>
        </p:spPr>
      </p:sp>
      <p:sp>
        <p:nvSpPr>
          <p:cNvPr id="21" name="Shape 19"/>
          <p:cNvSpPr/>
          <p:nvPr/>
        </p:nvSpPr>
        <p:spPr>
          <a:xfrm>
            <a:off x="9235440" y="1920240"/>
            <a:ext cx="411480" cy="411480"/>
          </a:xfrm>
          <a:prstGeom prst="ellipse">
            <a:avLst/>
          </a:prstGeom>
          <a:solidFill>
            <a:srgbClr val="0F7C80"/>
          </a:solidFill>
          <a:ln w="12700">
            <a:solidFill>
              <a:srgbClr val="0F7C80"/>
            </a:solidFill>
            <a:prstDash val="solid"/>
          </a:ln>
        </p:spPr>
      </p:sp>
      <p:sp>
        <p:nvSpPr>
          <p:cNvPr id="22" name="Text 20"/>
          <p:cNvSpPr txBox="1"/>
          <p:nvPr/>
        </p:nvSpPr>
        <p:spPr>
          <a:xfrm>
            <a:off x="923544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9235440" y="242316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Topics</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LDA vs BERTopic</a:t>
            </a:r>
            <a:endParaRPr lang="en-US" sz="1700" dirty="0"/>
          </a:p>
        </p:txBody>
      </p:sp>
      <p:sp>
        <p:nvSpPr>
          <p:cNvPr id="24" name="Shape 22"/>
          <p:cNvSpPr/>
          <p:nvPr/>
        </p:nvSpPr>
        <p:spPr>
          <a:xfrm>
            <a:off x="548640" y="3840480"/>
            <a:ext cx="2606040" cy="1417320"/>
          </a:xfrm>
          <a:prstGeom prst="roundRect">
            <a:avLst>
              <a:gd name="adj" fmla="val 7742"/>
            </a:avLst>
          </a:prstGeom>
          <a:solidFill>
            <a:srgbClr val="D7EFEF"/>
          </a:solidFill>
          <a:ln w="12700">
            <a:solidFill>
              <a:srgbClr val="D7EFEF"/>
            </a:solidFill>
            <a:prstDash val="solid"/>
          </a:ln>
        </p:spPr>
      </p:sp>
      <p:sp>
        <p:nvSpPr>
          <p:cNvPr id="25" name="Shape 23"/>
          <p:cNvSpPr/>
          <p:nvPr/>
        </p:nvSpPr>
        <p:spPr>
          <a:xfrm>
            <a:off x="731520" y="4023360"/>
            <a:ext cx="411480" cy="411480"/>
          </a:xfrm>
          <a:prstGeom prst="ellipse">
            <a:avLst/>
          </a:prstGeom>
          <a:solidFill>
            <a:srgbClr val="0F7C80"/>
          </a:solidFill>
          <a:ln w="12700">
            <a:solidFill>
              <a:srgbClr val="0F7C80"/>
            </a:solidFill>
            <a:prstDash val="solid"/>
          </a:ln>
        </p:spPr>
      </p:sp>
      <p:sp>
        <p:nvSpPr>
          <p:cNvPr id="26" name="Text 24"/>
          <p:cNvSpPr txBox="1"/>
          <p:nvPr/>
        </p:nvSpPr>
        <p:spPr>
          <a:xfrm>
            <a:off x="731520" y="4023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731520" y="452628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Network</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Who helps whom</a:t>
            </a:r>
            <a:endParaRPr lang="en-US" sz="1700" dirty="0"/>
          </a:p>
        </p:txBody>
      </p:sp>
      <p:sp>
        <p:nvSpPr>
          <p:cNvPr id="28" name="Text 26"/>
          <p:cNvSpPr txBox="1"/>
          <p:nvPr/>
        </p:nvSpPr>
        <p:spPr>
          <a:xfrm>
            <a:off x="3136392" y="4297680"/>
            <a:ext cx="274320" cy="457200"/>
          </a:xfrm>
          <a:prstGeom prst="rect">
            <a:avLst/>
          </a:prstGeom>
          <a:noFill/>
          <a:ln/>
        </p:spPr>
        <p:txBody>
          <a:bodyPr wrap="square" lIns="0" tIns="0" rIns="0" bIns="0" rtlCol="0" anchor="ctr"/>
          <a:lstStyle/>
          <a:p>
            <a:pPr algn="ctr" indent="0" marL="0">
              <a:buNone/>
            </a:pPr>
            <a:r>
              <a:rPr lang="en-US" sz="1800" dirty="0">
                <a:solidFill>
                  <a:srgbClr val="5B6272"/>
                </a:solidFill>
              </a:rPr>
              <a:t>→</a:t>
            </a:r>
            <a:endParaRPr lang="en-US" sz="1800" dirty="0"/>
          </a:p>
        </p:txBody>
      </p:sp>
      <p:sp>
        <p:nvSpPr>
          <p:cNvPr id="29" name="Shape 27"/>
          <p:cNvSpPr/>
          <p:nvPr/>
        </p:nvSpPr>
        <p:spPr>
          <a:xfrm>
            <a:off x="3383280" y="3840480"/>
            <a:ext cx="2606040" cy="1417320"/>
          </a:xfrm>
          <a:prstGeom prst="roundRect">
            <a:avLst>
              <a:gd name="adj" fmla="val 7742"/>
            </a:avLst>
          </a:prstGeom>
          <a:solidFill>
            <a:srgbClr val="D7EFEF"/>
          </a:solidFill>
          <a:ln w="12700">
            <a:solidFill>
              <a:srgbClr val="D7EFEF"/>
            </a:solidFill>
            <a:prstDash val="solid"/>
          </a:ln>
        </p:spPr>
      </p:sp>
      <p:sp>
        <p:nvSpPr>
          <p:cNvPr id="30" name="Shape 28"/>
          <p:cNvSpPr/>
          <p:nvPr/>
        </p:nvSpPr>
        <p:spPr>
          <a:xfrm>
            <a:off x="3566160" y="4023360"/>
            <a:ext cx="411480" cy="411480"/>
          </a:xfrm>
          <a:prstGeom prst="ellipse">
            <a:avLst/>
          </a:prstGeom>
          <a:solidFill>
            <a:srgbClr val="0F7C80"/>
          </a:solidFill>
          <a:ln w="12700">
            <a:solidFill>
              <a:srgbClr val="0F7C80"/>
            </a:solidFill>
            <a:prstDash val="solid"/>
          </a:ln>
        </p:spPr>
      </p:sp>
      <p:sp>
        <p:nvSpPr>
          <p:cNvPr id="31" name="Text 29"/>
          <p:cNvSpPr txBox="1"/>
          <p:nvPr/>
        </p:nvSpPr>
        <p:spPr>
          <a:xfrm>
            <a:off x="3566160" y="4023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3566160" y="452628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Diffusion</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Shuffle test + IC/LT</a:t>
            </a:r>
            <a:endParaRPr lang="en-US" sz="1700" dirty="0"/>
          </a:p>
        </p:txBody>
      </p:sp>
      <p:sp>
        <p:nvSpPr>
          <p:cNvPr id="33" name="Text 31"/>
          <p:cNvSpPr txBox="1"/>
          <p:nvPr/>
        </p:nvSpPr>
        <p:spPr>
          <a:xfrm>
            <a:off x="5971032" y="4297680"/>
            <a:ext cx="274320" cy="457200"/>
          </a:xfrm>
          <a:prstGeom prst="rect">
            <a:avLst/>
          </a:prstGeom>
          <a:noFill/>
          <a:ln/>
        </p:spPr>
        <p:txBody>
          <a:bodyPr wrap="square" lIns="0" tIns="0" rIns="0" bIns="0" rtlCol="0" anchor="ctr"/>
          <a:lstStyle/>
          <a:p>
            <a:pPr algn="ctr" indent="0" marL="0">
              <a:buNone/>
            </a:pPr>
            <a:r>
              <a:rPr lang="en-US" sz="1800" dirty="0">
                <a:solidFill>
                  <a:srgbClr val="5B6272"/>
                </a:solidFill>
              </a:rPr>
              <a:t>→</a:t>
            </a:r>
            <a:endParaRPr lang="en-US" sz="1800" dirty="0"/>
          </a:p>
        </p:txBody>
      </p:sp>
      <p:sp>
        <p:nvSpPr>
          <p:cNvPr id="34" name="Shape 32"/>
          <p:cNvSpPr/>
          <p:nvPr/>
        </p:nvSpPr>
        <p:spPr>
          <a:xfrm>
            <a:off x="6217920" y="3840480"/>
            <a:ext cx="2606040" cy="1417320"/>
          </a:xfrm>
          <a:prstGeom prst="roundRect">
            <a:avLst>
              <a:gd name="adj" fmla="val 7742"/>
            </a:avLst>
          </a:prstGeom>
          <a:solidFill>
            <a:srgbClr val="D7EFEF"/>
          </a:solidFill>
          <a:ln w="12700">
            <a:solidFill>
              <a:srgbClr val="D7EFEF"/>
            </a:solidFill>
            <a:prstDash val="solid"/>
          </a:ln>
        </p:spPr>
      </p:sp>
      <p:sp>
        <p:nvSpPr>
          <p:cNvPr id="35" name="Shape 33"/>
          <p:cNvSpPr/>
          <p:nvPr/>
        </p:nvSpPr>
        <p:spPr>
          <a:xfrm>
            <a:off x="6400800" y="4023360"/>
            <a:ext cx="411480" cy="411480"/>
          </a:xfrm>
          <a:prstGeom prst="ellipse">
            <a:avLst/>
          </a:prstGeom>
          <a:solidFill>
            <a:srgbClr val="0F7C80"/>
          </a:solidFill>
          <a:ln w="12700">
            <a:solidFill>
              <a:srgbClr val="0F7C80"/>
            </a:solidFill>
            <a:prstDash val="solid"/>
          </a:ln>
        </p:spPr>
      </p:sp>
      <p:sp>
        <p:nvSpPr>
          <p:cNvPr id="36" name="Text 34"/>
          <p:cNvSpPr txBox="1"/>
          <p:nvPr/>
        </p:nvSpPr>
        <p:spPr>
          <a:xfrm>
            <a:off x="6400800" y="4023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7" name="Text 35"/>
          <p:cNvSpPr txBox="1"/>
          <p:nvPr/>
        </p:nvSpPr>
        <p:spPr>
          <a:xfrm>
            <a:off x="6400800" y="452628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Predict</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Answered? Who can answer?</a:t>
            </a:r>
            <a:endParaRPr lang="en-US" sz="1700" dirty="0"/>
          </a:p>
        </p:txBody>
      </p:sp>
      <p:sp>
        <p:nvSpPr>
          <p:cNvPr id="38" name="Text 36"/>
          <p:cNvSpPr txBox="1"/>
          <p:nvPr/>
        </p:nvSpPr>
        <p:spPr>
          <a:xfrm>
            <a:off x="8805672" y="4297680"/>
            <a:ext cx="274320" cy="457200"/>
          </a:xfrm>
          <a:prstGeom prst="rect">
            <a:avLst/>
          </a:prstGeom>
          <a:noFill/>
          <a:ln/>
        </p:spPr>
        <p:txBody>
          <a:bodyPr wrap="square" lIns="0" tIns="0" rIns="0" bIns="0" rtlCol="0" anchor="ctr"/>
          <a:lstStyle/>
          <a:p>
            <a:pPr algn="ctr" indent="0" marL="0">
              <a:buNone/>
            </a:pPr>
            <a:r>
              <a:rPr lang="en-US" sz="1800" dirty="0">
                <a:solidFill>
                  <a:srgbClr val="5B6272"/>
                </a:solidFill>
              </a:rPr>
              <a:t>→</a:t>
            </a:r>
            <a:endParaRPr lang="en-US" sz="1800" dirty="0"/>
          </a:p>
        </p:txBody>
      </p:sp>
      <p:sp>
        <p:nvSpPr>
          <p:cNvPr id="39" name="Shape 37"/>
          <p:cNvSpPr/>
          <p:nvPr/>
        </p:nvSpPr>
        <p:spPr>
          <a:xfrm>
            <a:off x="9052560" y="3840480"/>
            <a:ext cx="2606040" cy="1417320"/>
          </a:xfrm>
          <a:prstGeom prst="roundRect">
            <a:avLst>
              <a:gd name="adj" fmla="val 7742"/>
            </a:avLst>
          </a:prstGeom>
          <a:solidFill>
            <a:srgbClr val="D7EFEF"/>
          </a:solidFill>
          <a:ln w="12700">
            <a:solidFill>
              <a:srgbClr val="D7EFEF"/>
            </a:solidFill>
            <a:prstDash val="solid"/>
          </a:ln>
        </p:spPr>
      </p:sp>
      <p:sp>
        <p:nvSpPr>
          <p:cNvPr id="40" name="Shape 38"/>
          <p:cNvSpPr/>
          <p:nvPr/>
        </p:nvSpPr>
        <p:spPr>
          <a:xfrm>
            <a:off x="9235440" y="4023360"/>
            <a:ext cx="411480" cy="411480"/>
          </a:xfrm>
          <a:prstGeom prst="ellipse">
            <a:avLst/>
          </a:prstGeom>
          <a:solidFill>
            <a:srgbClr val="0F7C80"/>
          </a:solidFill>
          <a:ln w="12700">
            <a:solidFill>
              <a:srgbClr val="0F7C80"/>
            </a:solidFill>
            <a:prstDash val="solid"/>
          </a:ln>
        </p:spPr>
      </p:sp>
      <p:sp>
        <p:nvSpPr>
          <p:cNvPr id="41" name="Text 39"/>
          <p:cNvSpPr txBox="1"/>
          <p:nvPr/>
        </p:nvSpPr>
        <p:spPr>
          <a:xfrm>
            <a:off x="9235440" y="4023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42" name="Text 40"/>
          <p:cNvSpPr txBox="1"/>
          <p:nvPr/>
        </p:nvSpPr>
        <p:spPr>
          <a:xfrm>
            <a:off x="9235440" y="4526280"/>
            <a:ext cx="2240280" cy="685800"/>
          </a:xfrm>
          <a:prstGeom prst="rect">
            <a:avLst/>
          </a:prstGeom>
          <a:noFill/>
          <a:ln/>
        </p:spPr>
        <p:txBody>
          <a:bodyPr wrap="square" lIns="0" tIns="0" rIns="0" bIns="0" rtlCol="0" anchor="t"/>
          <a:lstStyle/>
          <a:p>
            <a:pPr indent="0" marL="0">
              <a:buNone/>
            </a:pPr>
            <a:r>
              <a:rPr lang="en-US" sz="1700" b="1" dirty="0">
                <a:solidFill>
                  <a:srgbClr val="1F2430"/>
                </a:solidFill>
                <a:latin typeface="Calibri" pitchFamily="34" charset="0"/>
                <a:ea typeface="Calibri" pitchFamily="34" charset="-122"/>
                <a:cs typeface="Calibri" pitchFamily="34" charset="-120"/>
              </a:rPr>
              <a:t>Dashboard</a:t>
            </a:r>
            <a:endParaRPr lang="en-US" sz="1700" dirty="0"/>
          </a:p>
          <a:p>
            <a:pPr indent="0" marL="0">
              <a:buNone/>
            </a:pPr>
            <a:r>
              <a:rPr lang="en-US" sz="1300" dirty="0">
                <a:solidFill>
                  <a:srgbClr val="5B6272"/>
                </a:solidFill>
                <a:latin typeface="Calibri" pitchFamily="34" charset="0"/>
                <a:ea typeface="Calibri" pitchFamily="34" charset="-122"/>
                <a:cs typeface="Calibri" pitchFamily="34" charset="-120"/>
              </a:rPr>
              <a:t>Streamlit, 7 pages</a:t>
            </a:r>
            <a:endParaRPr lang="en-US" sz="1700" dirty="0"/>
          </a:p>
        </p:txBody>
      </p:sp>
      <p:sp>
        <p:nvSpPr>
          <p:cNvPr id="43" name="Shape 41"/>
          <p:cNvSpPr/>
          <p:nvPr/>
        </p:nvSpPr>
        <p:spPr>
          <a:xfrm>
            <a:off x="548640" y="5806440"/>
            <a:ext cx="11091672" cy="548640"/>
          </a:xfrm>
          <a:prstGeom prst="roundRect">
            <a:avLst>
              <a:gd name="adj" fmla="val 16667"/>
            </a:avLst>
          </a:prstGeom>
          <a:solidFill>
            <a:srgbClr val="D7EFEF"/>
          </a:solidFill>
          <a:ln w="12700">
            <a:solidFill>
              <a:srgbClr val="D7EFEF"/>
            </a:solidFill>
            <a:prstDash val="solid"/>
          </a:ln>
        </p:spPr>
      </p:sp>
      <p:sp>
        <p:nvSpPr>
          <p:cNvPr id="44" name="Text 42"/>
          <p:cNvSpPr txBox="1"/>
          <p:nvPr/>
        </p:nvSpPr>
        <p:spPr>
          <a:xfrm>
            <a:off x="777240" y="5806440"/>
            <a:ext cx="10634472" cy="54864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Runs on PostgreSQL when connected, on CSV files otherwise · fixed random seeds: two full runs gave identical results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do learners talk about?</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Topic modeling: classic LDA vs transformer-based BERTopic</a:t>
            </a:r>
            <a:endParaRPr lang="en-US" sz="1600" dirty="0"/>
          </a:p>
        </p:txBody>
      </p:sp>
      <p:graphicFrame>
        <p:nvGraphicFramePr>
          <p:cNvPr id="5" name="Chart 0" descr=""/>
          <p:cNvGraphicFramePr/>
          <p:nvPr/>
        </p:nvGraphicFramePr>
        <p:xfrm>
          <a:off x="548640" y="155448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80960" y="1737360"/>
            <a:ext cx="457200" cy="457200"/>
          </a:xfrm>
          <a:prstGeom prst="ellipse">
            <a:avLst/>
          </a:prstGeom>
          <a:solidFill>
            <a:srgbClr val="0F7C80"/>
          </a:solidFill>
          <a:ln w="12700">
            <a:solidFill>
              <a:srgbClr val="0F7C80"/>
            </a:solidFill>
            <a:prstDash val="solid"/>
          </a:ln>
        </p:spPr>
      </p:sp>
      <p:sp>
        <p:nvSpPr>
          <p:cNvPr id="7" name="Text 4"/>
          <p:cNvSpPr txBox="1"/>
          <p:nvPr/>
        </p:nvSpPr>
        <p:spPr>
          <a:xfrm>
            <a:off x="768096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8321040" y="1691640"/>
            <a:ext cx="338328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BERTopic wins on every metric</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NMI with the course syllabus: 0.56 vs 0.38</a:t>
            </a:r>
            <a:endParaRPr lang="en-US" sz="1600" dirty="0"/>
          </a:p>
        </p:txBody>
      </p:sp>
      <p:sp>
        <p:nvSpPr>
          <p:cNvPr id="9" name="Shape 6"/>
          <p:cNvSpPr/>
          <p:nvPr/>
        </p:nvSpPr>
        <p:spPr>
          <a:xfrm>
            <a:off x="7680960" y="2834640"/>
            <a:ext cx="457200" cy="457200"/>
          </a:xfrm>
          <a:prstGeom prst="ellipse">
            <a:avLst/>
          </a:prstGeom>
          <a:solidFill>
            <a:srgbClr val="0F7C80"/>
          </a:solidFill>
          <a:ln w="12700">
            <a:solidFill>
              <a:srgbClr val="0F7C80"/>
            </a:solidFill>
            <a:prstDash val="solid"/>
          </a:ln>
        </p:spPr>
      </p:sp>
      <p:sp>
        <p:nvSpPr>
          <p:cNvPr id="10" name="Text 7"/>
          <p:cNvSpPr txBox="1"/>
          <p:nvPr/>
        </p:nvSpPr>
        <p:spPr>
          <a:xfrm>
            <a:off x="7680960" y="2834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8321040" y="2788920"/>
            <a:ext cx="338328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Topics = problem sets</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speller, filter, recover, caesar, finance, DNA, tideman…</a:t>
            </a:r>
            <a:endParaRPr lang="en-US" sz="1600" dirty="0"/>
          </a:p>
        </p:txBody>
      </p:sp>
      <p:sp>
        <p:nvSpPr>
          <p:cNvPr id="12" name="Shape 9"/>
          <p:cNvSpPr/>
          <p:nvPr/>
        </p:nvSpPr>
        <p:spPr>
          <a:xfrm>
            <a:off x="7680960" y="3931920"/>
            <a:ext cx="457200" cy="457200"/>
          </a:xfrm>
          <a:prstGeom prst="ellipse">
            <a:avLst/>
          </a:prstGeom>
          <a:solidFill>
            <a:srgbClr val="0F7C80"/>
          </a:solidFill>
          <a:ln w="12700">
            <a:solidFill>
              <a:srgbClr val="0F7C80"/>
            </a:solidFill>
            <a:prstDash val="solid"/>
          </a:ln>
        </p:spPr>
      </p:sp>
      <p:sp>
        <p:nvSpPr>
          <p:cNvPr id="13" name="Text 10"/>
          <p:cNvSpPr txBox="1"/>
          <p:nvPr/>
        </p:nvSpPr>
        <p:spPr>
          <a:xfrm>
            <a:off x="768096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1"/>
          <p:cNvSpPr txBox="1"/>
          <p:nvPr/>
        </p:nvSpPr>
        <p:spPr>
          <a:xfrm>
            <a:off x="8321040" y="3886200"/>
            <a:ext cx="338328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A fair comparison</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Both models scored on the same vocabulary (words in ≥ 5 questions)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Which topics are hardest?</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Difficulty index = unanswered rate + time to answer + learner confusion</a:t>
            </a:r>
            <a:endParaRPr lang="en-US" sz="1600" dirty="0"/>
          </a:p>
        </p:txBody>
      </p:sp>
      <p:pic>
        <p:nvPicPr>
          <p:cNvPr id="5" name="Image 0" descr="topic difficulty">    </p:cNvPr>
          <p:cNvPicPr>
            <a:picLocks noChangeAspect="1"/>
          </p:cNvPicPr>
          <p:nvPr/>
        </p:nvPicPr>
        <p:blipFill>
          <a:blip r:embed="rId1"/>
          <a:stretch>
            <a:fillRect/>
          </a:stretch>
        </p:blipFill>
        <p:spPr>
          <a:xfrm>
            <a:off x="548640" y="1468120"/>
            <a:ext cx="6949440" cy="5019040"/>
          </a:xfrm>
          <a:prstGeom prst="rect">
            <a:avLst/>
          </a:prstGeom>
        </p:spPr>
      </p:pic>
      <p:sp>
        <p:nvSpPr>
          <p:cNvPr id="6" name="Shape 3"/>
          <p:cNvSpPr/>
          <p:nvPr/>
        </p:nvSpPr>
        <p:spPr>
          <a:xfrm>
            <a:off x="7863840" y="1737360"/>
            <a:ext cx="3749040" cy="1325880"/>
          </a:xfrm>
          <a:prstGeom prst="roundRect">
            <a:avLst>
              <a:gd name="adj" fmla="val 8276"/>
            </a:avLst>
          </a:prstGeom>
          <a:solidFill>
            <a:srgbClr val="F3F6F8"/>
          </a:solidFill>
          <a:ln w="12700">
            <a:solidFill>
              <a:srgbClr val="F3F6F8"/>
            </a:solidFill>
            <a:prstDash val="solid"/>
          </a:ln>
        </p:spPr>
      </p:sp>
      <p:sp>
        <p:nvSpPr>
          <p:cNvPr id="7" name="Text 4"/>
          <p:cNvSpPr txBox="1"/>
          <p:nvPr/>
        </p:nvSpPr>
        <p:spPr>
          <a:xfrm>
            <a:off x="8046720" y="1847088"/>
            <a:ext cx="3383280" cy="685800"/>
          </a:xfrm>
          <a:prstGeom prst="rect">
            <a:avLst/>
          </a:prstGeom>
          <a:noFill/>
          <a:ln/>
        </p:spPr>
        <p:txBody>
          <a:bodyPr wrap="square" lIns="0" tIns="0" rIns="0" bIns="0" rtlCol="0" anchor="ctr"/>
          <a:lstStyle/>
          <a:p>
            <a:pPr indent="0" marL="0">
              <a:buNone/>
            </a:pPr>
            <a:r>
              <a:rPr lang="en-US" sz="3400" b="1" dirty="0">
                <a:solidFill>
                  <a:srgbClr val="C0392B"/>
                </a:solidFill>
                <a:latin typeface="Cambria" pitchFamily="34" charset="0"/>
                <a:ea typeface="Cambria" pitchFamily="34" charset="-122"/>
                <a:cs typeface="Cambria" pitchFamily="34" charset="-120"/>
              </a:rPr>
              <a:t>45%</a:t>
            </a:r>
            <a:endParaRPr lang="en-US" sz="3400" dirty="0"/>
          </a:p>
        </p:txBody>
      </p:sp>
      <p:sp>
        <p:nvSpPr>
          <p:cNvPr id="8" name="Text 5"/>
          <p:cNvSpPr txBox="1"/>
          <p:nvPr/>
        </p:nvSpPr>
        <p:spPr>
          <a:xfrm>
            <a:off x="8046720" y="2514600"/>
            <a:ext cx="338328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of Tideman questions stay unanswered: the hardest topic</a:t>
            </a:r>
            <a:endParaRPr lang="en-US" sz="1300" dirty="0"/>
          </a:p>
        </p:txBody>
      </p:sp>
      <p:sp>
        <p:nvSpPr>
          <p:cNvPr id="9" name="Text 6"/>
          <p:cNvSpPr txBox="1"/>
          <p:nvPr/>
        </p:nvSpPr>
        <p:spPr>
          <a:xfrm>
            <a:off x="7863840" y="3383280"/>
            <a:ext cx="37490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Tideman is the problem set CS50 students widely call the hardest, an independent check on the index</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Web development (Flask, register, Finance) is next</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Early exercises (Caesar, Speller) get fast answers</a:t>
            </a:r>
            <a:endParaRPr lang="en-US" sz="1400" dirty="0"/>
          </a:p>
        </p:txBody>
      </p:sp>
      <p:sp>
        <p:nvSpPr>
          <p:cNvPr id="10" name="Shape 7"/>
          <p:cNvSpPr/>
          <p:nvPr/>
        </p:nvSpPr>
        <p:spPr>
          <a:xfrm>
            <a:off x="7863840" y="5486400"/>
            <a:ext cx="3749040" cy="731520"/>
          </a:xfrm>
          <a:prstGeom prst="roundRect">
            <a:avLst>
              <a:gd name="adj" fmla="val 12500"/>
            </a:avLst>
          </a:prstGeom>
          <a:solidFill>
            <a:srgbClr val="D7EFEF"/>
          </a:solidFill>
          <a:ln w="12700">
            <a:solidFill>
              <a:srgbClr val="D7EFEF"/>
            </a:solidFill>
            <a:prstDash val="solid"/>
          </a:ln>
        </p:spPr>
      </p:sp>
      <p:sp>
        <p:nvSpPr>
          <p:cNvPr id="11" name="Text 8"/>
          <p:cNvSpPr txBox="1"/>
          <p:nvPr/>
        </p:nvSpPr>
        <p:spPr>
          <a:xfrm>
            <a:off x="8092440" y="5486400"/>
            <a:ext cx="3291840" cy="73152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Action: add walkthroughs and office hours for Week 3 and Week 8–9</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Who helps whom? The knowledge network</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2,891 users · 4,245 helper → learner links · 6,930 interactions</a:t>
            </a:r>
            <a:endParaRPr lang="en-US" sz="1600" dirty="0"/>
          </a:p>
        </p:txBody>
      </p:sp>
      <p:pic>
        <p:nvPicPr>
          <p:cNvPr id="5" name="Image 0" descr="network core">    </p:cNvPr>
          <p:cNvPicPr>
            <a:picLocks noChangeAspect="1"/>
          </p:cNvPicPr>
          <p:nvPr/>
        </p:nvPicPr>
        <p:blipFill>
          <a:blip r:embed="rId1"/>
          <a:stretch>
            <a:fillRect/>
          </a:stretch>
        </p:blipFill>
        <p:spPr>
          <a:xfrm>
            <a:off x="548640" y="1497330"/>
            <a:ext cx="5669280" cy="4960620"/>
          </a:xfrm>
          <a:prstGeom prst="rect">
            <a:avLst/>
          </a:prstGeom>
        </p:spPr>
      </p:pic>
      <p:sp>
        <p:nvSpPr>
          <p:cNvPr id="6" name="Shape 3"/>
          <p:cNvSpPr/>
          <p:nvPr/>
        </p:nvSpPr>
        <p:spPr>
          <a:xfrm>
            <a:off x="6583680" y="1645920"/>
            <a:ext cx="2468880" cy="1325880"/>
          </a:xfrm>
          <a:prstGeom prst="roundRect">
            <a:avLst>
              <a:gd name="adj" fmla="val 8276"/>
            </a:avLst>
          </a:prstGeom>
          <a:solidFill>
            <a:srgbClr val="F3F6F8"/>
          </a:solidFill>
          <a:ln w="12700">
            <a:solidFill>
              <a:srgbClr val="F3F6F8"/>
            </a:solidFill>
            <a:prstDash val="solid"/>
          </a:ln>
        </p:spPr>
      </p:sp>
      <p:sp>
        <p:nvSpPr>
          <p:cNvPr id="7" name="Text 4"/>
          <p:cNvSpPr txBox="1"/>
          <p:nvPr/>
        </p:nvSpPr>
        <p:spPr>
          <a:xfrm>
            <a:off x="6766560" y="1755648"/>
            <a:ext cx="2103120" cy="685800"/>
          </a:xfrm>
          <a:prstGeom prst="rect">
            <a:avLst/>
          </a:prstGeom>
          <a:noFill/>
          <a:ln/>
        </p:spPr>
        <p:txBody>
          <a:bodyPr wrap="square" lIns="0" tIns="0" rIns="0" bIns="0" rtlCol="0" anchor="ctr"/>
          <a:lstStyle/>
          <a:p>
            <a:pPr indent="0" marL="0">
              <a:buNone/>
            </a:pPr>
            <a:r>
              <a:rPr lang="en-US" sz="3400" b="1" dirty="0">
                <a:solidFill>
                  <a:srgbClr val="E8A33D"/>
                </a:solidFill>
                <a:latin typeface="Cambria" pitchFamily="34" charset="0"/>
                <a:ea typeface="Cambria" pitchFamily="34" charset="-122"/>
                <a:cs typeface="Cambria" pitchFamily="34" charset="-120"/>
              </a:rPr>
              <a:t>81%</a:t>
            </a:r>
            <a:endParaRPr lang="en-US" sz="3400" dirty="0"/>
          </a:p>
        </p:txBody>
      </p:sp>
      <p:sp>
        <p:nvSpPr>
          <p:cNvPr id="8" name="Text 5"/>
          <p:cNvSpPr txBox="1"/>
          <p:nvPr/>
        </p:nvSpPr>
        <p:spPr>
          <a:xfrm>
            <a:off x="6766560" y="2423160"/>
            <a:ext cx="210312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of all help comes from the top 1% of users</a:t>
            </a:r>
            <a:endParaRPr lang="en-US" sz="1300" dirty="0"/>
          </a:p>
        </p:txBody>
      </p:sp>
      <p:sp>
        <p:nvSpPr>
          <p:cNvPr id="9" name="Shape 6"/>
          <p:cNvSpPr/>
          <p:nvPr/>
        </p:nvSpPr>
        <p:spPr>
          <a:xfrm>
            <a:off x="9235440" y="1645920"/>
            <a:ext cx="2468880" cy="1325880"/>
          </a:xfrm>
          <a:prstGeom prst="roundRect">
            <a:avLst>
              <a:gd name="adj" fmla="val 8276"/>
            </a:avLst>
          </a:prstGeom>
          <a:solidFill>
            <a:srgbClr val="F3F6F8"/>
          </a:solidFill>
          <a:ln w="12700">
            <a:solidFill>
              <a:srgbClr val="F3F6F8"/>
            </a:solidFill>
            <a:prstDash val="solid"/>
          </a:ln>
        </p:spPr>
      </p:sp>
      <p:sp>
        <p:nvSpPr>
          <p:cNvPr id="10" name="Text 7"/>
          <p:cNvSpPr txBox="1"/>
          <p:nvPr/>
        </p:nvSpPr>
        <p:spPr>
          <a:xfrm>
            <a:off x="9418320" y="1755648"/>
            <a:ext cx="210312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16</a:t>
            </a:r>
            <a:endParaRPr lang="en-US" sz="3400" dirty="0"/>
          </a:p>
        </p:txBody>
      </p:sp>
      <p:sp>
        <p:nvSpPr>
          <p:cNvPr id="11" name="Text 8"/>
          <p:cNvSpPr txBox="1"/>
          <p:nvPr/>
        </p:nvSpPr>
        <p:spPr>
          <a:xfrm>
            <a:off x="9418320" y="2423160"/>
            <a:ext cx="210312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communities with 10+ users (modularity 0.60)</a:t>
            </a:r>
            <a:endParaRPr lang="en-US" sz="1300" dirty="0"/>
          </a:p>
        </p:txBody>
      </p:sp>
      <p:sp>
        <p:nvSpPr>
          <p:cNvPr id="12" name="Text 9"/>
          <p:cNvSpPr txBox="1"/>
          <p:nvPr/>
        </p:nvSpPr>
        <p:spPr>
          <a:xfrm>
            <a:off x="6583680" y="3291840"/>
            <a:ext cx="512064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Only 30% of users ever help someone</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Reciprocity 0.035: help flows one way, experts → learners</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Roles: 23 core experts, 19 bridges, 68 helpers</a:t>
            </a:r>
            <a:endParaRPr lang="en-US" sz="1400" dirty="0"/>
          </a:p>
        </p:txBody>
      </p:sp>
      <p:sp>
        <p:nvSpPr>
          <p:cNvPr id="13" name="Shape 10"/>
          <p:cNvSpPr/>
          <p:nvPr/>
        </p:nvSpPr>
        <p:spPr>
          <a:xfrm>
            <a:off x="6583680" y="5120640"/>
            <a:ext cx="5120640" cy="822960"/>
          </a:xfrm>
          <a:prstGeom prst="roundRect">
            <a:avLst>
              <a:gd name="adj" fmla="val 11111"/>
            </a:avLst>
          </a:prstGeom>
          <a:solidFill>
            <a:srgbClr val="D7EFEF"/>
          </a:solidFill>
          <a:ln w="12700">
            <a:solidFill>
              <a:srgbClr val="D7EFEF"/>
            </a:solidFill>
            <a:prstDash val="solid"/>
          </a:ln>
        </p:spPr>
      </p:sp>
      <p:sp>
        <p:nvSpPr>
          <p:cNvPr id="14" name="Text 11"/>
          <p:cNvSpPr txBox="1"/>
          <p:nvPr/>
        </p:nvSpPr>
        <p:spPr>
          <a:xfrm>
            <a:off x="6812280" y="5120640"/>
            <a:ext cx="4663440" cy="82296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Validation: 85% of ExpertiseRank's top 20 are also in the top 20 by accepted answers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 community that depends on a few people</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Help concentration and how the community changed over time</a:t>
            </a:r>
            <a:endParaRPr lang="en-US" sz="1600" dirty="0"/>
          </a:p>
        </p:txBody>
      </p:sp>
      <p:pic>
        <p:nvPicPr>
          <p:cNvPr id="5" name="Image 0" descr="help concentration">    </p:cNvPr>
          <p:cNvPicPr>
            <a:picLocks noChangeAspect="1"/>
          </p:cNvPicPr>
          <p:nvPr/>
        </p:nvPicPr>
        <p:blipFill>
          <a:blip r:embed="rId1"/>
          <a:stretch>
            <a:fillRect/>
          </a:stretch>
        </p:blipFill>
        <p:spPr>
          <a:xfrm>
            <a:off x="548640" y="1962443"/>
            <a:ext cx="4023360" cy="2475914"/>
          </a:xfrm>
          <a:prstGeom prst="rect">
            <a:avLst/>
          </a:prstGeom>
        </p:spPr>
      </p:pic>
      <p:pic>
        <p:nvPicPr>
          <p:cNvPr id="6" name="Image 1" descr="network over time">    </p:cNvPr>
          <p:cNvPicPr>
            <a:picLocks noChangeAspect="1"/>
          </p:cNvPicPr>
          <p:nvPr/>
        </p:nvPicPr>
        <p:blipFill>
          <a:blip r:embed="rId2"/>
          <a:stretch>
            <a:fillRect/>
          </a:stretch>
        </p:blipFill>
        <p:spPr>
          <a:xfrm>
            <a:off x="4663440" y="2112264"/>
            <a:ext cx="7040880" cy="2176272"/>
          </a:xfrm>
          <a:prstGeom prst="rect">
            <a:avLst/>
          </a:prstGeom>
        </p:spPr>
      </p:pic>
      <p:sp>
        <p:nvSpPr>
          <p:cNvPr id="7" name="Shape 3"/>
          <p:cNvSpPr/>
          <p:nvPr/>
        </p:nvSpPr>
        <p:spPr>
          <a:xfrm>
            <a:off x="548640" y="5120640"/>
            <a:ext cx="11091672" cy="1005840"/>
          </a:xfrm>
          <a:prstGeom prst="roundRect">
            <a:avLst>
              <a:gd name="adj" fmla="val 9091"/>
            </a:avLst>
          </a:prstGeom>
          <a:solidFill>
            <a:srgbClr val="D7EFEF"/>
          </a:solidFill>
          <a:ln w="12700">
            <a:solidFill>
              <a:srgbClr val="D7EFEF"/>
            </a:solidFill>
            <a:prstDash val="solid"/>
          </a:ln>
        </p:spPr>
      </p:sp>
      <p:sp>
        <p:nvSpPr>
          <p:cNvPr id="8" name="Text 4"/>
          <p:cNvSpPr txBox="1"/>
          <p:nvPr/>
        </p:nvSpPr>
        <p:spPr>
          <a:xfrm>
            <a:off x="777240" y="5120640"/>
            <a:ext cx="10634472" cy="100584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Risk: if the top handful of experts leave, most questions go unanswered. Help Gini = 0.96. Activity has fallen since 2020 while the share of help from the top 10% stays high.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Does knowledge spread through contact?</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Shuffle test: did adopters meet earlier adopters more often than chance?</a:t>
            </a:r>
            <a:endParaRPr lang="en-US" sz="1600" dirty="0"/>
          </a:p>
        </p:txBody>
      </p:sp>
      <p:pic>
        <p:nvPicPr>
          <p:cNvPr id="5" name="Image 0" descr="exposure test">    </p:cNvPr>
          <p:cNvPicPr>
            <a:picLocks noChangeAspect="1"/>
          </p:cNvPicPr>
          <p:nvPr/>
        </p:nvPicPr>
        <p:blipFill>
          <a:blip r:embed="rId1"/>
          <a:stretch>
            <a:fillRect/>
          </a:stretch>
        </p:blipFill>
        <p:spPr>
          <a:xfrm>
            <a:off x="548640" y="1468120"/>
            <a:ext cx="6949440" cy="5019040"/>
          </a:xfrm>
          <a:prstGeom prst="rect">
            <a:avLst/>
          </a:prstGeom>
        </p:spPr>
      </p:pic>
      <p:sp>
        <p:nvSpPr>
          <p:cNvPr id="6" name="Shape 3"/>
          <p:cNvSpPr/>
          <p:nvPr/>
        </p:nvSpPr>
        <p:spPr>
          <a:xfrm>
            <a:off x="7863840" y="1645920"/>
            <a:ext cx="3749040" cy="1325880"/>
          </a:xfrm>
          <a:prstGeom prst="roundRect">
            <a:avLst>
              <a:gd name="adj" fmla="val 8276"/>
            </a:avLst>
          </a:prstGeom>
          <a:solidFill>
            <a:srgbClr val="F3F6F8"/>
          </a:solidFill>
          <a:ln w="12700">
            <a:solidFill>
              <a:srgbClr val="F3F6F8"/>
            </a:solidFill>
            <a:prstDash val="solid"/>
          </a:ln>
        </p:spPr>
      </p:sp>
      <p:sp>
        <p:nvSpPr>
          <p:cNvPr id="7" name="Text 4"/>
          <p:cNvSpPr txBox="1"/>
          <p:nvPr/>
        </p:nvSpPr>
        <p:spPr>
          <a:xfrm>
            <a:off x="8046720" y="1755648"/>
            <a:ext cx="338328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z = 2.68</a:t>
            </a:r>
            <a:endParaRPr lang="en-US" sz="3400" dirty="0"/>
          </a:p>
        </p:txBody>
      </p:sp>
      <p:sp>
        <p:nvSpPr>
          <p:cNvPr id="8" name="Text 5"/>
          <p:cNvSpPr txBox="1"/>
          <p:nvPr/>
        </p:nvSpPr>
        <p:spPr>
          <a:xfrm>
            <a:off x="8046720" y="2423160"/>
            <a:ext cx="338328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all topics combined (Stouffer), p = 0.004</a:t>
            </a:r>
            <a:endParaRPr lang="en-US" sz="1300" dirty="0"/>
          </a:p>
        </p:txBody>
      </p:sp>
      <p:sp>
        <p:nvSpPr>
          <p:cNvPr id="9" name="Text 6"/>
          <p:cNvSpPr txBox="1"/>
          <p:nvPr/>
        </p:nvSpPr>
        <p:spPr>
          <a:xfrm>
            <a:off x="7863840" y="3291840"/>
            <a:ext cx="37490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Modest but significant social-exposure effect overall</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Significant in 3 of 19 topics: buy / finance / stock, dna / sequence / str, sql / movie / query</a:t>
            </a:r>
            <a:endParaRPr lang="en-US" sz="1400" dirty="0"/>
          </a:p>
          <a:p>
            <a:pPr marL="342900" indent="-342900">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All of them are later-course topics; beginners arrive at topics independently</a:t>
            </a:r>
            <a:endParaRPr lang="en-US" sz="1400" dirty="0"/>
          </a:p>
        </p:txBody>
      </p:sp>
      <p:sp>
        <p:nvSpPr>
          <p:cNvPr id="10" name="Shape 7"/>
          <p:cNvSpPr/>
          <p:nvPr/>
        </p:nvSpPr>
        <p:spPr>
          <a:xfrm>
            <a:off x="7863840" y="5486400"/>
            <a:ext cx="3749040" cy="685800"/>
          </a:xfrm>
          <a:prstGeom prst="roundRect">
            <a:avLst>
              <a:gd name="adj" fmla="val 13333"/>
            </a:avLst>
          </a:prstGeom>
          <a:solidFill>
            <a:srgbClr val="D7EFEF"/>
          </a:solidFill>
          <a:ln w="12700">
            <a:solidFill>
              <a:srgbClr val="D7EFEF"/>
            </a:solidFill>
            <a:prstDash val="solid"/>
          </a:ln>
        </p:spPr>
      </p:sp>
      <p:sp>
        <p:nvSpPr>
          <p:cNvPr id="11" name="Text 8"/>
          <p:cNvSpPr txBox="1"/>
          <p:nvPr/>
        </p:nvSpPr>
        <p:spPr>
          <a:xfrm>
            <a:off x="8092440" y="5486400"/>
            <a:ext cx="3291840" cy="68580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Peer learning matters most in advanced units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Simulating diffusion: who should seed knowledge?</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Independent Cascade and Linear Threshold models, CELF influence maximisation</a:t>
            </a:r>
            <a:endParaRPr lang="en-US" sz="1600" dirty="0"/>
          </a:p>
        </p:txBody>
      </p:sp>
      <p:pic>
        <p:nvPicPr>
          <p:cNvPr id="5" name="Image 0" descr="influence maximization">    </p:cNvPr>
          <p:cNvPicPr>
            <a:picLocks noChangeAspect="1"/>
          </p:cNvPicPr>
          <p:nvPr/>
        </p:nvPicPr>
        <p:blipFill>
          <a:blip r:embed="rId1"/>
          <a:stretch>
            <a:fillRect/>
          </a:stretch>
        </p:blipFill>
        <p:spPr>
          <a:xfrm>
            <a:off x="548640" y="1562793"/>
            <a:ext cx="7498080" cy="2726575"/>
          </a:xfrm>
          <a:prstGeom prst="rect">
            <a:avLst/>
          </a:prstGeom>
        </p:spPr>
      </p:pic>
      <p:pic>
        <p:nvPicPr>
          <p:cNvPr id="6" name="Image 1" descr="diffusion validation">    </p:cNvPr>
          <p:cNvPicPr>
            <a:picLocks noChangeAspect="1"/>
          </p:cNvPicPr>
          <p:nvPr/>
        </p:nvPicPr>
        <p:blipFill>
          <a:blip r:embed="rId2"/>
          <a:stretch>
            <a:fillRect/>
          </a:stretch>
        </p:blipFill>
        <p:spPr>
          <a:xfrm>
            <a:off x="8229600" y="1723292"/>
            <a:ext cx="3474720" cy="2405575"/>
          </a:xfrm>
          <a:prstGeom prst="rect">
            <a:avLst/>
          </a:prstGeom>
        </p:spPr>
      </p:pic>
      <p:sp>
        <p:nvSpPr>
          <p:cNvPr id="7" name="Shape 3"/>
          <p:cNvSpPr/>
          <p:nvPr/>
        </p:nvSpPr>
        <p:spPr>
          <a:xfrm>
            <a:off x="548640" y="4709160"/>
            <a:ext cx="3566160" cy="1325880"/>
          </a:xfrm>
          <a:prstGeom prst="roundRect">
            <a:avLst>
              <a:gd name="adj" fmla="val 8276"/>
            </a:avLst>
          </a:prstGeom>
          <a:solidFill>
            <a:srgbClr val="F3F6F8"/>
          </a:solidFill>
          <a:ln w="12700">
            <a:solidFill>
              <a:srgbClr val="F3F6F8"/>
            </a:solidFill>
            <a:prstDash val="solid"/>
          </a:ln>
        </p:spPr>
      </p:sp>
      <p:sp>
        <p:nvSpPr>
          <p:cNvPr id="8" name="Text 4"/>
          <p:cNvSpPr txBox="1"/>
          <p:nvPr/>
        </p:nvSpPr>
        <p:spPr>
          <a:xfrm>
            <a:off x="731520" y="4818888"/>
            <a:ext cx="320040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15% / 68%</a:t>
            </a:r>
            <a:endParaRPr lang="en-US" sz="3400" dirty="0"/>
          </a:p>
        </p:txBody>
      </p:sp>
      <p:sp>
        <p:nvSpPr>
          <p:cNvPr id="9" name="Text 5"/>
          <p:cNvSpPr txBox="1"/>
          <p:nvPr/>
        </p:nvSpPr>
        <p:spPr>
          <a:xfrm>
            <a:off x="731520" y="5486400"/>
            <a:ext cx="320040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of users reached by 10 seeds (IC / LT) vs &lt; 1% for random seeds</a:t>
            </a:r>
            <a:endParaRPr lang="en-US" sz="1300" dirty="0"/>
          </a:p>
        </p:txBody>
      </p:sp>
      <p:sp>
        <p:nvSpPr>
          <p:cNvPr id="10" name="Shape 6"/>
          <p:cNvSpPr/>
          <p:nvPr/>
        </p:nvSpPr>
        <p:spPr>
          <a:xfrm>
            <a:off x="4343400" y="4709160"/>
            <a:ext cx="3566160" cy="1325880"/>
          </a:xfrm>
          <a:prstGeom prst="roundRect">
            <a:avLst>
              <a:gd name="adj" fmla="val 8276"/>
            </a:avLst>
          </a:prstGeom>
          <a:solidFill>
            <a:srgbClr val="F3F6F8"/>
          </a:solidFill>
          <a:ln w="12700">
            <a:solidFill>
              <a:srgbClr val="F3F6F8"/>
            </a:solidFill>
            <a:prstDash val="solid"/>
          </a:ln>
        </p:spPr>
      </p:sp>
      <p:sp>
        <p:nvSpPr>
          <p:cNvPr id="11" name="Text 7"/>
          <p:cNvSpPr txBox="1"/>
          <p:nvPr/>
        </p:nvSpPr>
        <p:spPr>
          <a:xfrm>
            <a:off x="4526280" y="4818888"/>
            <a:ext cx="3200400" cy="685800"/>
          </a:xfrm>
          <a:prstGeom prst="rect">
            <a:avLst/>
          </a:prstGeom>
          <a:noFill/>
          <a:ln/>
        </p:spPr>
        <p:txBody>
          <a:bodyPr wrap="square" lIns="0" tIns="0" rIns="0" bIns="0" rtlCol="0" anchor="ctr"/>
          <a:lstStyle/>
          <a:p>
            <a:pPr indent="0" marL="0">
              <a:buNone/>
            </a:pPr>
            <a:r>
              <a:rPr lang="en-US" sz="3400" b="1" dirty="0">
                <a:solidFill>
                  <a:srgbClr val="E8A33D"/>
                </a:solidFill>
                <a:latin typeface="Cambria" pitchFamily="34" charset="0"/>
                <a:ea typeface="Cambria" pitchFamily="34" charset="-122"/>
                <a:cs typeface="Cambria" pitchFamily="34" charset="-120"/>
              </a:rPr>
              <a:t>ρ = 0.86</a:t>
            </a:r>
            <a:endParaRPr lang="en-US" sz="3400" dirty="0"/>
          </a:p>
        </p:txBody>
      </p:sp>
      <p:sp>
        <p:nvSpPr>
          <p:cNvPr id="12" name="Text 8"/>
          <p:cNvSpPr txBox="1"/>
          <p:nvPr/>
        </p:nvSpPr>
        <p:spPr>
          <a:xfrm>
            <a:off x="4526280" y="5486400"/>
            <a:ext cx="320040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simulated vs observed time-respecting reach</a:t>
            </a:r>
            <a:endParaRPr lang="en-US" sz="1300" dirty="0"/>
          </a:p>
        </p:txBody>
      </p:sp>
      <p:sp>
        <p:nvSpPr>
          <p:cNvPr id="13" name="Shape 9"/>
          <p:cNvSpPr/>
          <p:nvPr/>
        </p:nvSpPr>
        <p:spPr>
          <a:xfrm>
            <a:off x="8138160" y="4709160"/>
            <a:ext cx="3566160" cy="1325880"/>
          </a:xfrm>
          <a:prstGeom prst="roundRect">
            <a:avLst>
              <a:gd name="adj" fmla="val 6897"/>
            </a:avLst>
          </a:prstGeom>
          <a:solidFill>
            <a:srgbClr val="D7EFEF"/>
          </a:solidFill>
          <a:ln w="12700">
            <a:solidFill>
              <a:srgbClr val="D7EFEF"/>
            </a:solidFill>
            <a:prstDash val="solid"/>
          </a:ln>
        </p:spPr>
      </p:sp>
      <p:sp>
        <p:nvSpPr>
          <p:cNvPr id="14" name="Text 10"/>
          <p:cNvSpPr txBox="1"/>
          <p:nvPr/>
        </p:nvSpPr>
        <p:spPr>
          <a:xfrm>
            <a:off x="8366760" y="4709160"/>
            <a:ext cx="3108960" cy="132588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Simple rankings (ExpertiseRank, out-degree) are almost as good as CELF, so platforms can find key spreaders cheaply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An honest negative result</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Do learners who get help go on to help others?</a:t>
            </a:r>
            <a:endParaRPr lang="en-US" sz="1600" dirty="0"/>
          </a:p>
        </p:txBody>
      </p:sp>
      <p:pic>
        <p:nvPicPr>
          <p:cNvPr id="5" name="Image 0" descr="learner to helper">    </p:cNvPr>
          <p:cNvPicPr>
            <a:picLocks noChangeAspect="1"/>
          </p:cNvPicPr>
          <p:nvPr/>
        </p:nvPicPr>
        <p:blipFill>
          <a:blip r:embed="rId1"/>
          <a:stretch>
            <a:fillRect/>
          </a:stretch>
        </p:blipFill>
        <p:spPr>
          <a:xfrm>
            <a:off x="548640" y="1517904"/>
            <a:ext cx="5760720" cy="3456432"/>
          </a:xfrm>
          <a:prstGeom prst="rect">
            <a:avLst/>
          </a:prstGeom>
        </p:spPr>
      </p:pic>
      <p:sp>
        <p:nvSpPr>
          <p:cNvPr id="6" name="Text 3"/>
          <p:cNvSpPr txBox="1"/>
          <p:nvPr/>
        </p:nvSpPr>
        <p:spPr>
          <a:xfrm>
            <a:off x="6675120" y="1737360"/>
            <a:ext cx="493776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125 of 2,374 learners (5.3%) later answered someone else</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Getting an answer made no significant difference (χ² p = 0.73)</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An early version showed a strong effect, but it came from counting self-answers as help</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Validation caught 3 bugs that had produced impressive but false results</a:t>
            </a:r>
            <a:endParaRPr lang="en-US" sz="1500" dirty="0"/>
          </a:p>
        </p:txBody>
      </p:sp>
      <p:sp>
        <p:nvSpPr>
          <p:cNvPr id="7" name="Shape 4"/>
          <p:cNvSpPr/>
          <p:nvPr/>
        </p:nvSpPr>
        <p:spPr>
          <a:xfrm>
            <a:off x="6675120" y="5212080"/>
            <a:ext cx="4937760" cy="731520"/>
          </a:xfrm>
          <a:prstGeom prst="roundRect">
            <a:avLst>
              <a:gd name="adj" fmla="val 12500"/>
            </a:avLst>
          </a:prstGeom>
          <a:solidFill>
            <a:srgbClr val="D7EFEF"/>
          </a:solidFill>
          <a:ln w="12700">
            <a:solidFill>
              <a:srgbClr val="D7EFEF"/>
            </a:solidFill>
            <a:prstDash val="solid"/>
          </a:ln>
        </p:spPr>
      </p:sp>
      <p:sp>
        <p:nvSpPr>
          <p:cNvPr id="8" name="Text 5"/>
          <p:cNvSpPr txBox="1"/>
          <p:nvPr/>
        </p:nvSpPr>
        <p:spPr>
          <a:xfrm>
            <a:off x="6903720" y="5212080"/>
            <a:ext cx="4480560" cy="73152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Lesson: check every result against a second source before believing it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Will a new question get answered?</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Leakage-free features · trained on the past 3,168 questions, tested on the newest 792</a:t>
            </a:r>
            <a:endParaRPr lang="en-US" sz="1600" dirty="0"/>
          </a:p>
        </p:txBody>
      </p:sp>
      <p:pic>
        <p:nvPicPr>
          <p:cNvPr id="5" name="Image 0" descr="prediction roc">    </p:cNvPr>
          <p:cNvPicPr>
            <a:picLocks noChangeAspect="1"/>
          </p:cNvPicPr>
          <p:nvPr/>
        </p:nvPicPr>
        <p:blipFill>
          <a:blip r:embed="rId1"/>
          <a:stretch>
            <a:fillRect/>
          </a:stretch>
        </p:blipFill>
        <p:spPr>
          <a:xfrm>
            <a:off x="548640" y="1584960"/>
            <a:ext cx="4754880" cy="3962400"/>
          </a:xfrm>
          <a:prstGeom prst="rect">
            <a:avLst/>
          </a:prstGeom>
        </p:spPr>
      </p:pic>
      <p:pic>
        <p:nvPicPr>
          <p:cNvPr id="6" name="Image 1" descr="prediction importance">    </p:cNvPr>
          <p:cNvPicPr>
            <a:picLocks noChangeAspect="1"/>
          </p:cNvPicPr>
          <p:nvPr/>
        </p:nvPicPr>
        <p:blipFill>
          <a:blip r:embed="rId2"/>
          <a:stretch>
            <a:fillRect/>
          </a:stretch>
        </p:blipFill>
        <p:spPr>
          <a:xfrm>
            <a:off x="5852160" y="1463040"/>
            <a:ext cx="5486400" cy="3291840"/>
          </a:xfrm>
          <a:prstGeom prst="rect">
            <a:avLst/>
          </a:prstGeom>
        </p:spPr>
      </p:pic>
      <p:sp>
        <p:nvSpPr>
          <p:cNvPr id="7" name="Shape 3"/>
          <p:cNvSpPr/>
          <p:nvPr/>
        </p:nvSpPr>
        <p:spPr>
          <a:xfrm>
            <a:off x="5486400" y="4937760"/>
            <a:ext cx="3017520" cy="1325880"/>
          </a:xfrm>
          <a:prstGeom prst="roundRect">
            <a:avLst>
              <a:gd name="adj" fmla="val 8276"/>
            </a:avLst>
          </a:prstGeom>
          <a:solidFill>
            <a:srgbClr val="F3F6F8"/>
          </a:solidFill>
          <a:ln w="12700">
            <a:solidFill>
              <a:srgbClr val="F3F6F8"/>
            </a:solidFill>
            <a:prstDash val="solid"/>
          </a:ln>
        </p:spPr>
      </p:sp>
      <p:sp>
        <p:nvSpPr>
          <p:cNvPr id="8" name="Text 4"/>
          <p:cNvSpPr txBox="1"/>
          <p:nvPr/>
        </p:nvSpPr>
        <p:spPr>
          <a:xfrm>
            <a:off x="5669280" y="5047488"/>
            <a:ext cx="265176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0.675</a:t>
            </a:r>
            <a:endParaRPr lang="en-US" sz="3400" dirty="0"/>
          </a:p>
        </p:txBody>
      </p:sp>
      <p:sp>
        <p:nvSpPr>
          <p:cNvPr id="9" name="Text 5"/>
          <p:cNvSpPr txBox="1"/>
          <p:nvPr/>
        </p:nvSpPr>
        <p:spPr>
          <a:xfrm>
            <a:off x="5669280" y="5715000"/>
            <a:ext cx="265176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ROC-AUC, Random Forest (baseline 0.500)</a:t>
            </a:r>
            <a:endParaRPr lang="en-US" sz="1300" dirty="0"/>
          </a:p>
        </p:txBody>
      </p:sp>
      <p:sp>
        <p:nvSpPr>
          <p:cNvPr id="10" name="Shape 6"/>
          <p:cNvSpPr/>
          <p:nvPr/>
        </p:nvSpPr>
        <p:spPr>
          <a:xfrm>
            <a:off x="8686800" y="4937760"/>
            <a:ext cx="3017520" cy="1325880"/>
          </a:xfrm>
          <a:prstGeom prst="roundRect">
            <a:avLst>
              <a:gd name="adj" fmla="val 6897"/>
            </a:avLst>
          </a:prstGeom>
          <a:solidFill>
            <a:srgbClr val="D7EFEF"/>
          </a:solidFill>
          <a:ln w="12700">
            <a:solidFill>
              <a:srgbClr val="D7EFEF"/>
            </a:solidFill>
            <a:prstDash val="solid"/>
          </a:ln>
        </p:spPr>
      </p:sp>
      <p:sp>
        <p:nvSpPr>
          <p:cNvPr id="11" name="Text 7"/>
          <p:cNvSpPr txBox="1"/>
          <p:nvPr/>
        </p:nvSpPr>
        <p:spPr>
          <a:xfrm>
            <a:off x="8915400" y="4937760"/>
            <a:ext cx="2560320" cy="132588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Tips for learners: use full tags and include your code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Expert finder: who can answer this?</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Content similarity + authority + recency, evaluated on future questions</a:t>
            </a:r>
            <a:endParaRPr lang="en-US" sz="1600" dirty="0"/>
          </a:p>
        </p:txBody>
      </p:sp>
      <p:graphicFrame>
        <p:nvGraphicFramePr>
          <p:cNvPr id="5" name="Chart 0" descr=""/>
          <p:cNvGraphicFramePr/>
          <p:nvPr/>
        </p:nvGraphicFramePr>
        <p:xfrm>
          <a:off x="548640" y="1554480"/>
          <a:ext cx="7498080" cy="4663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412480" y="1737360"/>
            <a:ext cx="3291840" cy="1325880"/>
          </a:xfrm>
          <a:prstGeom prst="roundRect">
            <a:avLst>
              <a:gd name="adj" fmla="val 8276"/>
            </a:avLst>
          </a:prstGeom>
          <a:solidFill>
            <a:srgbClr val="F3F6F8"/>
          </a:solidFill>
          <a:ln w="12700">
            <a:solidFill>
              <a:srgbClr val="F3F6F8"/>
            </a:solidFill>
            <a:prstDash val="solid"/>
          </a:ln>
        </p:spPr>
      </p:sp>
      <p:sp>
        <p:nvSpPr>
          <p:cNvPr id="7" name="Text 4"/>
          <p:cNvSpPr txBox="1"/>
          <p:nvPr/>
        </p:nvSpPr>
        <p:spPr>
          <a:xfrm>
            <a:off x="8595360" y="1847088"/>
            <a:ext cx="2926080" cy="685800"/>
          </a:xfrm>
          <a:prstGeom prst="rect">
            <a:avLst/>
          </a:prstGeom>
          <a:noFill/>
          <a:ln/>
        </p:spPr>
        <p:txBody>
          <a:bodyPr wrap="square" lIns="0" tIns="0" rIns="0" bIns="0" rtlCol="0" anchor="ctr"/>
          <a:lstStyle/>
          <a:p>
            <a:pPr indent="0" marL="0">
              <a:buNone/>
            </a:pPr>
            <a:r>
              <a:rPr lang="en-US" sz="3400" b="1" dirty="0">
                <a:solidFill>
                  <a:srgbClr val="0F7C80"/>
                </a:solidFill>
                <a:latin typeface="Cambria" pitchFamily="34" charset="0"/>
                <a:ea typeface="Cambria" pitchFamily="34" charset="-122"/>
                <a:cs typeface="Cambria" pitchFamily="34" charset="-120"/>
              </a:rPr>
              <a:t>81%</a:t>
            </a:r>
            <a:endParaRPr lang="en-US" sz="3400" dirty="0"/>
          </a:p>
        </p:txBody>
      </p:sp>
      <p:sp>
        <p:nvSpPr>
          <p:cNvPr id="8" name="Text 5"/>
          <p:cNvSpPr txBox="1"/>
          <p:nvPr/>
        </p:nvSpPr>
        <p:spPr>
          <a:xfrm>
            <a:off x="8595360" y="2514600"/>
            <a:ext cx="2926080" cy="45720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of future questions have a real answerer in the top 10 (popularity baseline: 70%)</a:t>
            </a:r>
            <a:endParaRPr lang="en-US" sz="1300" dirty="0"/>
          </a:p>
        </p:txBody>
      </p:sp>
      <p:sp>
        <p:nvSpPr>
          <p:cNvPr id="9" name="Shape 6"/>
          <p:cNvSpPr/>
          <p:nvPr/>
        </p:nvSpPr>
        <p:spPr>
          <a:xfrm>
            <a:off x="8412480" y="3474720"/>
            <a:ext cx="457200" cy="457200"/>
          </a:xfrm>
          <a:prstGeom prst="ellipse">
            <a:avLst/>
          </a:prstGeom>
          <a:solidFill>
            <a:srgbClr val="0F7C80"/>
          </a:solidFill>
          <a:ln w="12700">
            <a:solidFill>
              <a:srgbClr val="0F7C80"/>
            </a:solidFill>
            <a:prstDash val="solid"/>
          </a:ln>
        </p:spPr>
      </p:sp>
      <p:sp>
        <p:nvSpPr>
          <p:cNvPr id="10" name="Text 7"/>
          <p:cNvSpPr txBox="1"/>
          <p:nvPr/>
        </p:nvSpPr>
        <p:spPr>
          <a:xfrm>
            <a:off x="841248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8"/>
          <p:cNvSpPr txBox="1"/>
          <p:nvPr/>
        </p:nvSpPr>
        <p:spPr>
          <a:xfrm>
            <a:off x="9052560" y="3429000"/>
            <a:ext cx="265176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Content</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similar past questions they answered</a:t>
            </a:r>
            <a:endParaRPr lang="en-US" sz="1600" dirty="0"/>
          </a:p>
        </p:txBody>
      </p:sp>
      <p:sp>
        <p:nvSpPr>
          <p:cNvPr id="12" name="Shape 9"/>
          <p:cNvSpPr/>
          <p:nvPr/>
        </p:nvSpPr>
        <p:spPr>
          <a:xfrm>
            <a:off x="8412480" y="4389120"/>
            <a:ext cx="457200" cy="457200"/>
          </a:xfrm>
          <a:prstGeom prst="ellipse">
            <a:avLst/>
          </a:prstGeom>
          <a:solidFill>
            <a:srgbClr val="0F7C80"/>
          </a:solidFill>
          <a:ln w="12700">
            <a:solidFill>
              <a:srgbClr val="0F7C80"/>
            </a:solidFill>
            <a:prstDash val="solid"/>
          </a:ln>
        </p:spPr>
      </p:sp>
      <p:sp>
        <p:nvSpPr>
          <p:cNvPr id="13" name="Text 10"/>
          <p:cNvSpPr txBox="1"/>
          <p:nvPr/>
        </p:nvSpPr>
        <p:spPr>
          <a:xfrm>
            <a:off x="8412480" y="4389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9052560" y="4343400"/>
            <a:ext cx="265176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Authority</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how much they help overall</a:t>
            </a:r>
            <a:endParaRPr lang="en-US" sz="1600" dirty="0"/>
          </a:p>
        </p:txBody>
      </p:sp>
      <p:sp>
        <p:nvSpPr>
          <p:cNvPr id="15" name="Shape 12"/>
          <p:cNvSpPr/>
          <p:nvPr/>
        </p:nvSpPr>
        <p:spPr>
          <a:xfrm>
            <a:off x="8412480" y="5303520"/>
            <a:ext cx="457200" cy="457200"/>
          </a:xfrm>
          <a:prstGeom prst="ellipse">
            <a:avLst/>
          </a:prstGeom>
          <a:solidFill>
            <a:srgbClr val="0F7C80"/>
          </a:solidFill>
          <a:ln w="12700">
            <a:solidFill>
              <a:srgbClr val="0F7C80"/>
            </a:solidFill>
            <a:prstDash val="solid"/>
          </a:ln>
        </p:spPr>
      </p:sp>
      <p:sp>
        <p:nvSpPr>
          <p:cNvPr id="16" name="Text 13"/>
          <p:cNvSpPr txBox="1"/>
          <p:nvPr/>
        </p:nvSpPr>
        <p:spPr>
          <a:xfrm>
            <a:off x="8412480" y="5303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9052560" y="5257800"/>
            <a:ext cx="265176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Recency</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still active? experts leave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Interactive dashboard</a:t>
            </a:r>
            <a:endParaRPr lang="en-US" sz="3200" dirty="0"/>
          </a:p>
        </p:txBody>
      </p:sp>
      <p:sp>
        <p:nvSpPr>
          <p:cNvPr id="4" name="Text 2"/>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i="1" dirty="0">
                <a:solidFill>
                  <a:srgbClr val="5B6272"/>
                </a:solidFill>
                <a:latin typeface="Calibri" pitchFamily="34" charset="0"/>
                <a:ea typeface="Calibri" pitchFamily="34" charset="-122"/>
                <a:cs typeface="Calibri" pitchFamily="34" charset="-120"/>
              </a:rPr>
              <a:t>Streamlit app backed by PostgreSQL: live demo</a:t>
            </a:r>
            <a:endParaRPr lang="en-US" sz="1600" dirty="0"/>
          </a:p>
        </p:txBody>
      </p:sp>
      <p:sp>
        <p:nvSpPr>
          <p:cNvPr id="5" name="Shape 3"/>
          <p:cNvSpPr/>
          <p:nvPr/>
        </p:nvSpPr>
        <p:spPr>
          <a:xfrm>
            <a:off x="548640" y="1737360"/>
            <a:ext cx="457200" cy="457200"/>
          </a:xfrm>
          <a:prstGeom prst="ellipse">
            <a:avLst/>
          </a:prstGeom>
          <a:solidFill>
            <a:srgbClr val="0F7C80"/>
          </a:solidFill>
          <a:ln w="12700">
            <a:solidFill>
              <a:srgbClr val="0F7C80"/>
            </a:solidFill>
            <a:prstDash val="solid"/>
          </a:ln>
        </p:spPr>
      </p:sp>
      <p:sp>
        <p:nvSpPr>
          <p:cNvPr id="6" name="Text 4"/>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188720" y="1691640"/>
            <a:ext cx="3017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Overview</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Key numbers and findings</a:t>
            </a:r>
            <a:endParaRPr lang="en-US" sz="1600" dirty="0"/>
          </a:p>
        </p:txBody>
      </p:sp>
      <p:sp>
        <p:nvSpPr>
          <p:cNvPr id="8" name="Shape 6"/>
          <p:cNvSpPr/>
          <p:nvPr/>
        </p:nvSpPr>
        <p:spPr>
          <a:xfrm>
            <a:off x="4389120" y="1737360"/>
            <a:ext cx="457200" cy="457200"/>
          </a:xfrm>
          <a:prstGeom prst="ellipse">
            <a:avLst/>
          </a:prstGeom>
          <a:solidFill>
            <a:srgbClr val="0F7C80"/>
          </a:solidFill>
          <a:ln w="12700">
            <a:solidFill>
              <a:srgbClr val="0F7C80"/>
            </a:solidFill>
            <a:prstDash val="solid"/>
          </a:ln>
        </p:spPr>
      </p:sp>
      <p:sp>
        <p:nvSpPr>
          <p:cNvPr id="9" name="Text 7"/>
          <p:cNvSpPr txBox="1"/>
          <p:nvPr/>
        </p:nvSpPr>
        <p:spPr>
          <a:xfrm>
            <a:off x="438912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5029200" y="1691640"/>
            <a:ext cx="3017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Topics</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Topic map, difficulty, trends</a:t>
            </a:r>
            <a:endParaRPr lang="en-US" sz="1600" dirty="0"/>
          </a:p>
        </p:txBody>
      </p:sp>
      <p:sp>
        <p:nvSpPr>
          <p:cNvPr id="11" name="Shape 9"/>
          <p:cNvSpPr/>
          <p:nvPr/>
        </p:nvSpPr>
        <p:spPr>
          <a:xfrm>
            <a:off x="548640" y="2834640"/>
            <a:ext cx="457200" cy="457200"/>
          </a:xfrm>
          <a:prstGeom prst="ellipse">
            <a:avLst/>
          </a:prstGeom>
          <a:solidFill>
            <a:srgbClr val="0F7C80"/>
          </a:solidFill>
          <a:ln w="12700">
            <a:solidFill>
              <a:srgbClr val="0F7C80"/>
            </a:solidFill>
            <a:prstDash val="solid"/>
          </a:ln>
        </p:spPr>
      </p:sp>
      <p:sp>
        <p:nvSpPr>
          <p:cNvPr id="12" name="Text 10"/>
          <p:cNvSpPr txBox="1"/>
          <p:nvPr/>
        </p:nvSpPr>
        <p:spPr>
          <a:xfrm>
            <a:off x="548640" y="2834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188720" y="2788920"/>
            <a:ext cx="3017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Knowledge network</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Drag-and-zoom graph, top experts</a:t>
            </a:r>
            <a:endParaRPr lang="en-US" sz="1600" dirty="0"/>
          </a:p>
        </p:txBody>
      </p:sp>
      <p:sp>
        <p:nvSpPr>
          <p:cNvPr id="14" name="Shape 12"/>
          <p:cNvSpPr/>
          <p:nvPr/>
        </p:nvSpPr>
        <p:spPr>
          <a:xfrm>
            <a:off x="4389120" y="2834640"/>
            <a:ext cx="457200" cy="457200"/>
          </a:xfrm>
          <a:prstGeom prst="ellipse">
            <a:avLst/>
          </a:prstGeom>
          <a:solidFill>
            <a:srgbClr val="0F7C80"/>
          </a:solidFill>
          <a:ln w="12700">
            <a:solidFill>
              <a:srgbClr val="0F7C80"/>
            </a:solidFill>
            <a:prstDash val="solid"/>
          </a:ln>
        </p:spPr>
      </p:sp>
      <p:sp>
        <p:nvSpPr>
          <p:cNvPr id="15" name="Text 13"/>
          <p:cNvSpPr txBox="1"/>
          <p:nvPr/>
        </p:nvSpPr>
        <p:spPr>
          <a:xfrm>
            <a:off x="4389120" y="2834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txBox="1"/>
          <p:nvPr/>
        </p:nvSpPr>
        <p:spPr>
          <a:xfrm>
            <a:off x="5029200" y="2788920"/>
            <a:ext cx="3017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Diffusion</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Exposure test, adoption curves, seeding</a:t>
            </a:r>
            <a:endParaRPr lang="en-US" sz="1600" dirty="0"/>
          </a:p>
        </p:txBody>
      </p:sp>
      <p:sp>
        <p:nvSpPr>
          <p:cNvPr id="17" name="Shape 15"/>
          <p:cNvSpPr/>
          <p:nvPr/>
        </p:nvSpPr>
        <p:spPr>
          <a:xfrm>
            <a:off x="548640" y="3931920"/>
            <a:ext cx="457200" cy="457200"/>
          </a:xfrm>
          <a:prstGeom prst="ellipse">
            <a:avLst/>
          </a:prstGeom>
          <a:solidFill>
            <a:srgbClr val="0F7C80"/>
          </a:solidFill>
          <a:ln w="12700">
            <a:solidFill>
              <a:srgbClr val="0F7C80"/>
            </a:solidFill>
            <a:prstDash val="solid"/>
          </a:ln>
        </p:spPr>
      </p:sp>
      <p:sp>
        <p:nvSpPr>
          <p:cNvPr id="18" name="Text 16"/>
          <p:cNvSpPr txBox="1"/>
          <p:nvPr/>
        </p:nvSpPr>
        <p:spPr>
          <a:xfrm>
            <a:off x="548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txBox="1"/>
          <p:nvPr/>
        </p:nvSpPr>
        <p:spPr>
          <a:xfrm>
            <a:off x="1188720" y="3886200"/>
            <a:ext cx="3017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Answer prediction</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Check your question: chance + tips</a:t>
            </a:r>
            <a:endParaRPr lang="en-US" sz="1600" dirty="0"/>
          </a:p>
        </p:txBody>
      </p:sp>
      <p:sp>
        <p:nvSpPr>
          <p:cNvPr id="20" name="Shape 18"/>
          <p:cNvSpPr/>
          <p:nvPr/>
        </p:nvSpPr>
        <p:spPr>
          <a:xfrm>
            <a:off x="4389120" y="3931920"/>
            <a:ext cx="457200" cy="457200"/>
          </a:xfrm>
          <a:prstGeom prst="ellipse">
            <a:avLst/>
          </a:prstGeom>
          <a:solidFill>
            <a:srgbClr val="0F7C80"/>
          </a:solidFill>
          <a:ln w="12700">
            <a:solidFill>
              <a:srgbClr val="0F7C80"/>
            </a:solidFill>
            <a:prstDash val="solid"/>
          </a:ln>
        </p:spPr>
      </p:sp>
      <p:sp>
        <p:nvSpPr>
          <p:cNvPr id="21" name="Text 19"/>
          <p:cNvSpPr txBox="1"/>
          <p:nvPr/>
        </p:nvSpPr>
        <p:spPr>
          <a:xfrm>
            <a:off x="43891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2" name="Text 20"/>
          <p:cNvSpPr txBox="1"/>
          <p:nvPr/>
        </p:nvSpPr>
        <p:spPr>
          <a:xfrm>
            <a:off x="5029200" y="3886200"/>
            <a:ext cx="3017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Expert finder</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Type a problem, get experts</a:t>
            </a:r>
            <a:endParaRPr lang="en-US" sz="1600" dirty="0"/>
          </a:p>
        </p:txBody>
      </p:sp>
      <p:sp>
        <p:nvSpPr>
          <p:cNvPr id="23" name="Shape 21"/>
          <p:cNvSpPr/>
          <p:nvPr/>
        </p:nvSpPr>
        <p:spPr>
          <a:xfrm>
            <a:off x="548640" y="5029200"/>
            <a:ext cx="457200" cy="457200"/>
          </a:xfrm>
          <a:prstGeom prst="ellipse">
            <a:avLst/>
          </a:prstGeom>
          <a:solidFill>
            <a:srgbClr val="14213D"/>
          </a:solidFill>
          <a:ln w="12700">
            <a:solidFill>
              <a:srgbClr val="14213D"/>
            </a:solidFill>
            <a:prstDash val="solid"/>
          </a:ln>
        </p:spPr>
      </p:sp>
      <p:sp>
        <p:nvSpPr>
          <p:cNvPr id="24" name="Text 22"/>
          <p:cNvSpPr txBox="1"/>
          <p:nvPr/>
        </p:nvSpPr>
        <p:spPr>
          <a:xfrm>
            <a:off x="548640" y="5029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25" name="Text 23"/>
          <p:cNvSpPr txBox="1"/>
          <p:nvPr/>
        </p:nvSpPr>
        <p:spPr>
          <a:xfrm>
            <a:off x="1188720" y="4983480"/>
            <a:ext cx="3017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Database</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Run SQL queries on PostgreSQL</a:t>
            </a:r>
            <a:endParaRPr lang="en-US" sz="1600" dirty="0"/>
          </a:p>
        </p:txBody>
      </p:sp>
      <p:sp>
        <p:nvSpPr>
          <p:cNvPr id="26" name="Shape 24"/>
          <p:cNvSpPr/>
          <p:nvPr/>
        </p:nvSpPr>
        <p:spPr>
          <a:xfrm>
            <a:off x="8412480" y="1737360"/>
            <a:ext cx="3291840" cy="4206240"/>
          </a:xfrm>
          <a:prstGeom prst="roundRect">
            <a:avLst>
              <a:gd name="adj" fmla="val 4167"/>
            </a:avLst>
          </a:prstGeom>
          <a:solidFill>
            <a:srgbClr val="14213D"/>
          </a:solidFill>
          <a:ln w="12700">
            <a:solidFill>
              <a:srgbClr val="14213D"/>
            </a:solidFill>
            <a:prstDash val="solid"/>
          </a:ln>
        </p:spPr>
      </p:sp>
      <p:sp>
        <p:nvSpPr>
          <p:cNvPr id="27" name="Text 25"/>
          <p:cNvSpPr txBox="1"/>
          <p:nvPr/>
        </p:nvSpPr>
        <p:spPr>
          <a:xfrm>
            <a:off x="8641080" y="1920240"/>
            <a:ext cx="2834640" cy="3840480"/>
          </a:xfrm>
          <a:prstGeom prst="rect">
            <a:avLst/>
          </a:prstGeom>
          <a:noFill/>
          <a:ln/>
        </p:spPr>
        <p:txBody>
          <a:bodyPr wrap="square" lIns="0" tIns="0" rIns="0" bIns="0" rtlCol="0" anchor="t"/>
          <a:lstStyle/>
          <a:p>
            <a:pPr indent="0" marL="0">
              <a:buNone/>
            </a:pPr>
            <a:r>
              <a:rPr lang="en-US" sz="1800" b="1" dirty="0">
                <a:solidFill>
                  <a:srgbClr val="E8A33D"/>
                </a:solidFill>
                <a:latin typeface="Calibri" pitchFamily="34" charset="0"/>
                <a:ea typeface="Calibri" pitchFamily="34" charset="-122"/>
                <a:cs typeface="Calibri" pitchFamily="34" charset="-120"/>
              </a:rPr>
              <a:t>Tech stack</a:t>
            </a:r>
            <a:endParaRPr lang="en-US" sz="1800" dirty="0"/>
          </a:p>
          <a:p>
            <a:pPr indent="0" marL="0">
              <a:buNone/>
            </a:pPr>
            <a:r>
              <a:rPr lang="en-US" sz="1400" dirty="0">
                <a:solidFill>
                  <a:srgbClr val="FFFFFF"/>
                </a:solidFill>
                <a:latin typeface="Calibri" pitchFamily="34" charset="0"/>
                <a:ea typeface="Calibri" pitchFamily="34" charset="-122"/>
                <a:cs typeface="Calibri" pitchFamily="34" charset="-120"/>
              </a:rPr>
              <a:t>Python · PostgreSQL · pgAdmin · SQLAlchemy · sentence-transformers · BERTopic · UMAP · HDBSCAN · NLTK · NetworkX · scikit-learn · XGBoost · Plotly · PyVis · Streamlit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Key insights and recommendations</a:t>
            </a:r>
            <a:endParaRPr lang="en-US" sz="3200" dirty="0"/>
          </a:p>
        </p:txBody>
      </p:sp>
      <p:sp>
        <p:nvSpPr>
          <p:cNvPr id="4" name="Shape 2"/>
          <p:cNvSpPr/>
          <p:nvPr/>
        </p:nvSpPr>
        <p:spPr>
          <a:xfrm>
            <a:off x="548640" y="1280160"/>
            <a:ext cx="457200" cy="457200"/>
          </a:xfrm>
          <a:prstGeom prst="ellipse">
            <a:avLst/>
          </a:prstGeom>
          <a:solidFill>
            <a:srgbClr val="0F7C80"/>
          </a:solidFill>
          <a:ln w="12700">
            <a:solidFill>
              <a:srgbClr val="0F7C80"/>
            </a:solidFill>
            <a:prstDash val="solid"/>
          </a:ln>
        </p:spPr>
      </p:sp>
      <p:sp>
        <p:nvSpPr>
          <p:cNvPr id="5" name="Text 3"/>
          <p:cNvSpPr txBox="1"/>
          <p:nvPr/>
        </p:nvSpPr>
        <p:spPr>
          <a:xfrm>
            <a:off x="54864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188720" y="1234440"/>
            <a:ext cx="9875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Support the hardest units</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Tideman and web development need walkthroughs and office hours</a:t>
            </a:r>
            <a:endParaRPr lang="en-US" sz="1600" dirty="0"/>
          </a:p>
        </p:txBody>
      </p:sp>
      <p:sp>
        <p:nvSpPr>
          <p:cNvPr id="7" name="Shape 5"/>
          <p:cNvSpPr/>
          <p:nvPr/>
        </p:nvSpPr>
        <p:spPr>
          <a:xfrm>
            <a:off x="548640" y="2304288"/>
            <a:ext cx="457200" cy="457200"/>
          </a:xfrm>
          <a:prstGeom prst="ellipse">
            <a:avLst/>
          </a:prstGeom>
          <a:solidFill>
            <a:srgbClr val="14213D"/>
          </a:solidFill>
          <a:ln w="12700">
            <a:solidFill>
              <a:srgbClr val="14213D"/>
            </a:solidFill>
            <a:prstDash val="solid"/>
          </a:ln>
        </p:spPr>
      </p:sp>
      <p:sp>
        <p:nvSpPr>
          <p:cNvPr id="8" name="Text 6"/>
          <p:cNvSpPr txBox="1"/>
          <p:nvPr/>
        </p:nvSpPr>
        <p:spPr>
          <a:xfrm>
            <a:off x="548640" y="2304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188720" y="2258568"/>
            <a:ext cx="9875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Protect the core experts</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The top 1% give 81% of help: recognise them and spread the load</a:t>
            </a:r>
            <a:endParaRPr lang="en-US" sz="1600" dirty="0"/>
          </a:p>
        </p:txBody>
      </p:sp>
      <p:sp>
        <p:nvSpPr>
          <p:cNvPr id="10" name="Shape 8"/>
          <p:cNvSpPr/>
          <p:nvPr/>
        </p:nvSpPr>
        <p:spPr>
          <a:xfrm>
            <a:off x="548640" y="3328416"/>
            <a:ext cx="457200" cy="457200"/>
          </a:xfrm>
          <a:prstGeom prst="ellipse">
            <a:avLst/>
          </a:prstGeom>
          <a:solidFill>
            <a:srgbClr val="0F7C80"/>
          </a:solidFill>
          <a:ln w="12700">
            <a:solidFill>
              <a:srgbClr val="0F7C80"/>
            </a:solidFill>
            <a:prstDash val="solid"/>
          </a:ln>
        </p:spPr>
      </p:sp>
      <p:sp>
        <p:nvSpPr>
          <p:cNvPr id="11" name="Text 9"/>
          <p:cNvSpPr txBox="1"/>
          <p:nvPr/>
        </p:nvSpPr>
        <p:spPr>
          <a:xfrm>
            <a:off x="548640" y="33284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188720" y="3282696"/>
            <a:ext cx="9875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Encourage peer learning in advanced units</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That is where social exposure matters</a:t>
            </a:r>
            <a:endParaRPr lang="en-US" sz="1600" dirty="0"/>
          </a:p>
        </p:txBody>
      </p:sp>
      <p:sp>
        <p:nvSpPr>
          <p:cNvPr id="13" name="Shape 11"/>
          <p:cNvSpPr/>
          <p:nvPr/>
        </p:nvSpPr>
        <p:spPr>
          <a:xfrm>
            <a:off x="548640" y="4352544"/>
            <a:ext cx="457200" cy="457200"/>
          </a:xfrm>
          <a:prstGeom prst="ellipse">
            <a:avLst/>
          </a:prstGeom>
          <a:solidFill>
            <a:srgbClr val="14213D"/>
          </a:solidFill>
          <a:ln w="12700">
            <a:solidFill>
              <a:srgbClr val="14213D"/>
            </a:solidFill>
            <a:prstDash val="solid"/>
          </a:ln>
        </p:spPr>
      </p:sp>
      <p:sp>
        <p:nvSpPr>
          <p:cNvPr id="14" name="Text 12"/>
          <p:cNvSpPr txBox="1"/>
          <p:nvPr/>
        </p:nvSpPr>
        <p:spPr>
          <a:xfrm>
            <a:off x="548640" y="43525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5" name="Text 13"/>
          <p:cNvSpPr txBox="1"/>
          <p:nvPr/>
        </p:nvSpPr>
        <p:spPr>
          <a:xfrm>
            <a:off x="1188720" y="4306824"/>
            <a:ext cx="9875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Route questions to the right people</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The expert finder reaches 81% Hit@10</a:t>
            </a:r>
            <a:endParaRPr lang="en-US" sz="1600" dirty="0"/>
          </a:p>
        </p:txBody>
      </p:sp>
      <p:sp>
        <p:nvSpPr>
          <p:cNvPr id="16" name="Shape 14"/>
          <p:cNvSpPr/>
          <p:nvPr/>
        </p:nvSpPr>
        <p:spPr>
          <a:xfrm>
            <a:off x="548640" y="5376672"/>
            <a:ext cx="457200" cy="457200"/>
          </a:xfrm>
          <a:prstGeom prst="ellipse">
            <a:avLst/>
          </a:prstGeom>
          <a:solidFill>
            <a:srgbClr val="0F7C80"/>
          </a:solidFill>
          <a:ln w="12700">
            <a:solidFill>
              <a:srgbClr val="0F7C80"/>
            </a:solidFill>
            <a:prstDash val="solid"/>
          </a:ln>
        </p:spPr>
      </p:sp>
      <p:sp>
        <p:nvSpPr>
          <p:cNvPr id="17" name="Text 15"/>
          <p:cNvSpPr txBox="1"/>
          <p:nvPr/>
        </p:nvSpPr>
        <p:spPr>
          <a:xfrm>
            <a:off x="548640" y="53766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8" name="Text 16"/>
          <p:cNvSpPr txBox="1"/>
          <p:nvPr/>
        </p:nvSpPr>
        <p:spPr>
          <a:xfrm>
            <a:off x="1188720" y="5330952"/>
            <a:ext cx="9875520" cy="777240"/>
          </a:xfrm>
          <a:prstGeom prst="rect">
            <a:avLst/>
          </a:prstGeom>
          <a:noFill/>
          <a:ln/>
        </p:spPr>
        <p:txBody>
          <a:bodyPr wrap="square" lIns="0" tIns="0" rIns="0" bIns="0" rtlCol="0" anchor="t"/>
          <a:lstStyle/>
          <a:p>
            <a:pPr indent="0" marL="0">
              <a:buNone/>
            </a:pPr>
            <a:r>
              <a:rPr lang="en-US" sz="1600" b="1" dirty="0">
                <a:solidFill>
                  <a:srgbClr val="1F2430"/>
                </a:solidFill>
                <a:latin typeface="Calibri" pitchFamily="34" charset="0"/>
                <a:ea typeface="Calibri" pitchFamily="34" charset="-122"/>
                <a:cs typeface="Calibri" pitchFamily="34" charset="-120"/>
              </a:rPr>
              <a:t>Coach learners to ask well</a:t>
            </a:r>
            <a:endParaRPr lang="en-US" sz="1600" dirty="0"/>
          </a:p>
          <a:p>
            <a:pPr indent="0" marL="0">
              <a:buNone/>
            </a:pPr>
            <a:r>
              <a:rPr lang="en-US" sz="1300" dirty="0">
                <a:solidFill>
                  <a:srgbClr val="5B6272"/>
                </a:solidFill>
                <a:latin typeface="Calibri" pitchFamily="34" charset="0"/>
                <a:ea typeface="Calibri" pitchFamily="34" charset="-122"/>
                <a:cs typeface="Calibri" pitchFamily="34" charset="-120"/>
              </a:rPr>
              <a:t>Full tags and code raise the chance of an answer</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5B6272"/>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Limitations and future work</a:t>
            </a:r>
            <a:endParaRPr lang="en-US" sz="3200" dirty="0"/>
          </a:p>
        </p:txBody>
      </p:sp>
      <p:sp>
        <p:nvSpPr>
          <p:cNvPr id="4" name="Shape 2"/>
          <p:cNvSpPr/>
          <p:nvPr/>
        </p:nvSpPr>
        <p:spPr>
          <a:xfrm>
            <a:off x="548640" y="1371600"/>
            <a:ext cx="5394960" cy="4754880"/>
          </a:xfrm>
          <a:prstGeom prst="roundRect">
            <a:avLst>
              <a:gd name="adj" fmla="val 2308"/>
            </a:avLst>
          </a:prstGeom>
          <a:solidFill>
            <a:srgbClr val="F3F6F8"/>
          </a:solidFill>
          <a:ln w="12700">
            <a:solidFill>
              <a:srgbClr val="F3F6F8"/>
            </a:solidFill>
            <a:prstDash val="solid"/>
          </a:ln>
        </p:spPr>
      </p:sp>
      <p:sp>
        <p:nvSpPr>
          <p:cNvPr id="5" name="Text 3"/>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Limitations</a:t>
            </a:r>
            <a:endParaRPr lang="en-US" sz="2000" dirty="0"/>
          </a:p>
        </p:txBody>
      </p:sp>
      <p:sp>
        <p:nvSpPr>
          <p:cNvPr id="6" name="Text 4"/>
          <p:cNvSpPr txBox="1"/>
          <p:nvPr/>
        </p:nvSpPr>
        <p:spPr>
          <a:xfrm>
            <a:off x="822960" y="2148840"/>
            <a:ext cx="484632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Sample: 4,000 newest questions; older history is missing</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Readers who never post are invisible</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shuffle test supports influence but cannot prove causation</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IC/LT parameters are standard values, not fitted ones</a:t>
            </a:r>
            <a:endParaRPr lang="en-US" sz="1500" dirty="0"/>
          </a:p>
        </p:txBody>
      </p:sp>
      <p:sp>
        <p:nvSpPr>
          <p:cNvPr id="7" name="Shape 5"/>
          <p:cNvSpPr/>
          <p:nvPr/>
        </p:nvSpPr>
        <p:spPr>
          <a:xfrm>
            <a:off x="6263640" y="1371600"/>
            <a:ext cx="5394960" cy="4754880"/>
          </a:xfrm>
          <a:prstGeom prst="roundRect">
            <a:avLst>
              <a:gd name="adj" fmla="val 2308"/>
            </a:avLst>
          </a:prstGeom>
          <a:solidFill>
            <a:srgbClr val="D7EFEF"/>
          </a:solidFill>
          <a:ln w="12700">
            <a:solidFill>
              <a:srgbClr val="D7EFEF"/>
            </a:solidFill>
            <a:prstDash val="solid"/>
          </a:ln>
        </p:spPr>
      </p:sp>
      <p:sp>
        <p:nvSpPr>
          <p:cNvPr id="8" name="Text 6"/>
          <p:cNvSpPr txBox="1"/>
          <p:nvPr/>
        </p:nvSpPr>
        <p:spPr>
          <a:xfrm>
            <a:off x="6537960" y="1554480"/>
            <a:ext cx="4846320" cy="45720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Future work</a:t>
            </a:r>
            <a:endParaRPr lang="en-US" sz="2000" dirty="0"/>
          </a:p>
        </p:txBody>
      </p:sp>
      <p:sp>
        <p:nvSpPr>
          <p:cNvPr id="9" name="Text 7"/>
          <p:cNvSpPr txBox="1"/>
          <p:nvPr/>
        </p:nvSpPr>
        <p:spPr>
          <a:xfrm>
            <a:off x="6537960" y="2148840"/>
            <a:ext cx="484632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Compare several communities (Data Science, Statistics)</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LLM-generated topic names and confusion summaries</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Fit diffusion parameters from real cascades</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Live expert routing, then measure its effect on answer rates</a:t>
            </a:r>
            <a:endParaRPr lang="en-US" sz="1500" dirty="0"/>
          </a:p>
          <a:p>
            <a:pPr marL="342900" indent="-342900">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Dropout prediction from network position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201168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3108960"/>
            <a:ext cx="10972800" cy="731520"/>
          </a:xfrm>
          <a:prstGeom prst="rect">
            <a:avLst/>
          </a:prstGeom>
          <a:noFill/>
          <a:ln/>
        </p:spPr>
        <p:txBody>
          <a:bodyPr wrap="square" lIns="0" tIns="0" rIns="0" bIns="0" rtlCol="0" anchor="ctr"/>
          <a:lstStyle/>
          <a:p>
            <a:pPr indent="0" marL="0">
              <a:buNone/>
            </a:pPr>
            <a:r>
              <a:rPr lang="en-US" sz="2800" dirty="0">
                <a:solidFill>
                  <a:srgbClr val="E8A33D"/>
                </a:solidFill>
                <a:latin typeface="Cambria" pitchFamily="34" charset="0"/>
                <a:ea typeface="Cambria" pitchFamily="34" charset="-122"/>
                <a:cs typeface="Cambria" pitchFamily="34" charset="-120"/>
              </a:rPr>
              <a:t>Questions?</a:t>
            </a:r>
            <a:endParaRPr lang="en-US" sz="2800" dirty="0"/>
          </a:p>
        </p:txBody>
      </p:sp>
      <p:sp>
        <p:nvSpPr>
          <p:cNvPr id="4" name="Text 2"/>
          <p:cNvSpPr txBox="1"/>
          <p:nvPr/>
        </p:nvSpPr>
        <p:spPr>
          <a:xfrm>
            <a:off x="548640" y="4754880"/>
            <a:ext cx="10972800" cy="457200"/>
          </a:xfrm>
          <a:prstGeom prst="rect">
            <a:avLst/>
          </a:prstGeom>
          <a:noFill/>
          <a:ln/>
        </p:spPr>
        <p:txBody>
          <a:bodyPr wrap="square" lIns="0" tIns="0" rIns="0" bIns="0" rtlCol="0" anchor="ctr"/>
          <a:lstStyle/>
          <a:p>
            <a:pPr indent="0" marL="0">
              <a:buNone/>
            </a:pPr>
            <a:r>
              <a:rPr lang="en-US" sz="1600" dirty="0">
                <a:solidFill>
                  <a:srgbClr val="AEB8CC"/>
                </a:solidFill>
                <a:latin typeface="Calibri" pitchFamily="34" charset="0"/>
                <a:ea typeface="Calibri" pitchFamily="34" charset="-122"/>
                <a:cs typeface="Calibri" pitchFamily="34" charset="-120"/>
              </a:rPr>
              <a:t>Code, data and dashboard: github.com/prateekchau25-del/learning-community-analytics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Community Analytics</dc:title>
  <dc:subject>PptxGenJS Presentation</dc:subject>
  <dc:creator>Prateek Chauhan</dc:creator>
  <cp:lastModifiedBy>Prateek Chauhan</cp:lastModifiedBy>
  <cp:revision>1</cp:revision>
  <dcterms:created xsi:type="dcterms:W3CDTF">2026-09-29T09:52:40Z</dcterms:created>
  <dcterms:modified xsi:type="dcterms:W3CDTF">2026-09-29T09:52:40Z</dcterms:modified>
</cp:coreProperties>
</file>